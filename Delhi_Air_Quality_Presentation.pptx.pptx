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8322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7711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231" y="1411086"/>
            <a:ext cx="133350" cy="13335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9966" y="1392036"/>
            <a:ext cx="2033587" cy="171450"/>
          </a:xfrm>
          <a:custGeom>
            <a:avLst/>
            <a:gdLst/>
            <a:ahLst/>
            <a:cxnLst/>
            <a:rect l="l" t="t" r="r" b="b"/>
            <a:pathLst>
              <a:path w="2033587" h="171450">
                <a:moveTo>
                  <a:pt x="0" y="0"/>
                </a:moveTo>
                <a:lnTo>
                  <a:pt x="2033587" y="0"/>
                </a:lnTo>
                <a:lnTo>
                  <a:pt x="2033587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2"/>
          <p:cNvSpPr/>
          <p:nvPr/>
        </p:nvSpPr>
        <p:spPr>
          <a:xfrm>
            <a:off x="3659966" y="1392036"/>
            <a:ext cx="20335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>
                <a:solidFill>
                  <a:srgbClr val="FFFFFF"/>
                </a:solidFill>
              </a:rPr>
              <a:t>DATA ANALYTICS PROJECT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1428750" y="1695674"/>
            <a:ext cx="6286500" cy="742950"/>
          </a:xfrm>
          <a:custGeom>
            <a:avLst/>
            <a:gdLst/>
            <a:ahLst/>
            <a:cxnLst/>
            <a:rect l="l" t="t" r="r" b="b"/>
            <a:pathLst>
              <a:path w="6286500" h="742950">
                <a:moveTo>
                  <a:pt x="0" y="0"/>
                </a:moveTo>
                <a:lnTo>
                  <a:pt x="6286500" y="0"/>
                </a:lnTo>
                <a:lnTo>
                  <a:pt x="628650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1428750" y="1695674"/>
            <a:ext cx="6286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3913"/>
              </a:lnSpc>
              <a:spcBef>
                <a:spcPts val="281"/>
              </a:spcBef>
              <a:buNone/>
            </a:pPr>
            <a:r>
              <a:rPr>
                <a:solidFill>
                  <a:srgbClr val="FFFFFF"/>
                </a:solidFill>
              </a:rPr>
              <a:t>DELHI AIR QUALITY &amp; POLLUTION ANALYSIS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286250" y="2618440"/>
            <a:ext cx="571500" cy="23812"/>
          </a:xfrm>
          <a:custGeom>
            <a:avLst/>
            <a:gdLst/>
            <a:ahLst/>
            <a:cxnLst/>
            <a:rect l="l" t="t" r="r" b="b"/>
            <a:pathLst>
              <a:path w="571500" h="23812">
                <a:moveTo>
                  <a:pt x="0" y="0"/>
                </a:moveTo>
                <a:lnTo>
                  <a:pt x="571500" y="0"/>
                </a:lnTo>
                <a:lnTo>
                  <a:pt x="571500" y="23812"/>
                </a:lnTo>
                <a:lnTo>
                  <a:pt x="0" y="23812"/>
                </a:lnTo>
                <a:close/>
              </a:path>
            </a:pathLst>
          </a:custGeom>
          <a:solidFill>
            <a:srgbClr val="66B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2471739" y="2784886"/>
            <a:ext cx="4200525" cy="219075"/>
          </a:xfrm>
          <a:custGeom>
            <a:avLst/>
            <a:gdLst/>
            <a:ahLst/>
            <a:cxnLst/>
            <a:rect l="l" t="t" r="r" b="b"/>
            <a:pathLst>
              <a:path w="4200525" h="219075">
                <a:moveTo>
                  <a:pt x="0" y="0"/>
                </a:moveTo>
                <a:lnTo>
                  <a:pt x="4200525" y="0"/>
                </a:lnTo>
                <a:lnTo>
                  <a:pt x="4200525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2471739" y="2784886"/>
            <a:ext cx="42005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4348"/>
              </a:lnSpc>
              <a:spcBef>
                <a:spcPts val="281"/>
              </a:spcBef>
              <a:buNone/>
            </a:pPr>
            <a:r>
              <a:rPr>
                <a:solidFill>
                  <a:srgbClr val="FFFFFF"/>
                </a:solidFill>
              </a:rPr>
              <a:t>Excel-Based Air Quality &amp; Pollution Analytics — 2025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208" y="4812506"/>
            <a:ext cx="95250" cy="952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750452" y="4795837"/>
            <a:ext cx="1795462" cy="128588"/>
          </a:xfrm>
          <a:custGeom>
            <a:avLst/>
            <a:gdLst/>
            <a:ahLst/>
            <a:cxnLst/>
            <a:rect l="l" t="t" r="r" b="b"/>
            <a:pathLst>
              <a:path w="1795462" h="128588">
                <a:moveTo>
                  <a:pt x="0" y="0"/>
                </a:moveTo>
                <a:lnTo>
                  <a:pt x="1795462" y="0"/>
                </a:lnTo>
                <a:lnTo>
                  <a:pt x="1795462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3750452" y="4795837"/>
            <a:ext cx="179546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6957"/>
              </a:lnSpc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15" name="TextBox 14"/>
          <p:cNvSpPr txBox="1"/>
          <p:nvPr/>
        </p:nvSpPr>
        <p:spPr>
          <a:xfrm>
            <a:off x="594360" y="4315968"/>
            <a:ext cx="32390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4B2D"/>
                </a:solidFill>
              </a:defRPr>
            </a:pPr>
            <a:r>
              <a:rPr dirty="0">
                <a:solidFill>
                  <a:srgbClr val="FFFFFF"/>
                </a:solidFill>
              </a:rPr>
              <a:t>Presented by: Gishal S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23900" y="385990"/>
            <a:ext cx="2407755" cy="139697"/>
          </a:xfrm>
          <a:custGeom>
            <a:avLst/>
            <a:gdLst/>
            <a:ahLst/>
            <a:cxnLst/>
            <a:rect l="l" t="t" r="r" b="b"/>
            <a:pathLst>
              <a:path w="2407755" h="139697">
                <a:moveTo>
                  <a:pt x="0" y="0"/>
                </a:moveTo>
                <a:lnTo>
                  <a:pt x="2407755" y="0"/>
                </a:lnTo>
                <a:lnTo>
                  <a:pt x="2407755" y="139697"/>
                </a:lnTo>
                <a:lnTo>
                  <a:pt x="0" y="13969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23900" y="385990"/>
            <a:ext cx="2407755" cy="139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Air-quality analytics project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20160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57200" y="620160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045994"/>
            <a:ext cx="5619750" cy="409575"/>
          </a:xfrm>
          <a:custGeom>
            <a:avLst/>
            <a:gdLst/>
            <a:ahLst/>
            <a:cxnLst/>
            <a:rect l="l" t="t" r="r" b="b"/>
            <a:pathLst>
              <a:path w="5619750" h="409575">
                <a:moveTo>
                  <a:pt x="0" y="0"/>
                </a:moveTo>
                <a:lnTo>
                  <a:pt x="5619750" y="0"/>
                </a:lnTo>
                <a:lnTo>
                  <a:pt x="561975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57200" y="1045994"/>
            <a:ext cx="5619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1800"/>
              <a:t>Analyze Delhi’s 2025 air quality by time, location, weather, and pollutants.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6675" y="2028414"/>
            <a:ext cx="5367337" cy="2771775"/>
          </a:xfrm>
          <a:custGeom>
            <a:avLst/>
            <a:gdLst/>
            <a:ahLst/>
            <a:cxnLst/>
            <a:rect l="l" t="t" r="r" b="b"/>
            <a:pathLst>
              <a:path w="5367337" h="2771775">
                <a:moveTo>
                  <a:pt x="43988" y="0"/>
                </a:moveTo>
                <a:lnTo>
                  <a:pt x="5323349" y="0"/>
                </a:lnTo>
                <a:quadBezTo>
                  <a:pt x="5367337" y="0"/>
                  <a:pt x="5367337" y="43988"/>
                </a:quadBezTo>
                <a:lnTo>
                  <a:pt x="5367337" y="2727787"/>
                </a:lnTo>
                <a:quadBezTo>
                  <a:pt x="5367337" y="2771775"/>
                  <a:pt x="5323349" y="2771775"/>
                </a:quadBezTo>
                <a:lnTo>
                  <a:pt x="43988" y="2771775"/>
                </a:lnTo>
                <a:quadBezTo>
                  <a:pt x="0" y="2771775"/>
                  <a:pt x="0" y="2727787"/>
                </a:quadBezTo>
                <a:lnTo>
                  <a:pt x="0" y="43988"/>
                </a:lnTo>
                <a:quadBezTo>
                  <a:pt x="0" y="0"/>
                  <a:pt x="43988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57150" dir="2700000" algn="bl" rotWithShape="0">
              <a:srgbClr val="1F2933">
                <a:alpha val="5882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705686" y="2256602"/>
            <a:ext cx="3176587" cy="171450"/>
          </a:xfrm>
          <a:custGeom>
            <a:avLst/>
            <a:gdLst/>
            <a:ahLst/>
            <a:cxnLst/>
            <a:rect l="l" t="t" r="r" b="b"/>
            <a:pathLst>
              <a:path w="3176587" h="171450">
                <a:moveTo>
                  <a:pt x="0" y="0"/>
                </a:moveTo>
                <a:lnTo>
                  <a:pt x="3176587" y="0"/>
                </a:lnTo>
                <a:lnTo>
                  <a:pt x="3176587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05686" y="2256602"/>
            <a:ext cx="31765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RAW DATA TO INSIGHT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05686" y="2485202"/>
            <a:ext cx="3176587" cy="219075"/>
          </a:xfrm>
          <a:custGeom>
            <a:avLst/>
            <a:gdLst/>
            <a:ahLst/>
            <a:cxnLst/>
            <a:rect l="l" t="t" r="r" b="b"/>
            <a:pathLst>
              <a:path w="3176587" h="219075">
                <a:moveTo>
                  <a:pt x="0" y="0"/>
                </a:moveTo>
                <a:lnTo>
                  <a:pt x="3176587" y="0"/>
                </a:lnTo>
                <a:lnTo>
                  <a:pt x="3176587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05686" y="2485202"/>
            <a:ext cx="317658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sz="1200" b="1">
                <a:solidFill>
                  <a:srgbClr val="1F6926"/>
                </a:solidFill>
              </a:rPr>
              <a:t>PROJECT WORKFLOW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811" y="2256602"/>
            <a:ext cx="200025" cy="20002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04680" y="2980914"/>
            <a:ext cx="1395412" cy="1590675"/>
          </a:xfrm>
          <a:custGeom>
            <a:avLst/>
            <a:gdLst/>
            <a:ahLst/>
            <a:cxnLst/>
            <a:rect l="l" t="t" r="r" b="b"/>
            <a:pathLst>
              <a:path w="1395412" h="1590675">
                <a:moveTo>
                  <a:pt x="62417" y="0"/>
                </a:moveTo>
                <a:lnTo>
                  <a:pt x="1332996" y="0"/>
                </a:lnTo>
                <a:quadBezTo>
                  <a:pt x="1395412" y="0"/>
                  <a:pt x="1395412" y="62417"/>
                </a:quadBezTo>
                <a:lnTo>
                  <a:pt x="1395412" y="1528258"/>
                </a:lnTo>
                <a:quadBezTo>
                  <a:pt x="1395412" y="1590675"/>
                  <a:pt x="1332996" y="1590675"/>
                </a:quadBezTo>
                <a:lnTo>
                  <a:pt x="62417" y="1590675"/>
                </a:lnTo>
                <a:quadBezTo>
                  <a:pt x="0" y="1590675"/>
                  <a:pt x="0" y="1528258"/>
                </a:quadBezTo>
                <a:lnTo>
                  <a:pt x="0" y="62417"/>
                </a:lnTo>
                <a:quadBezTo>
                  <a:pt x="0" y="0"/>
                  <a:pt x="62417" y="0"/>
                </a:quadBezTo>
                <a:close/>
              </a:path>
            </a:pathLst>
          </a:custGeom>
          <a:solidFill>
            <a:srgbClr val="E8F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848859" y="3123377"/>
            <a:ext cx="109537" cy="157163"/>
          </a:xfrm>
          <a:custGeom>
            <a:avLst/>
            <a:gdLst/>
            <a:ahLst/>
            <a:cxnLst/>
            <a:rect l="l" t="t" r="r" b="b"/>
            <a:pathLst>
              <a:path w="109537" h="157163">
                <a:moveTo>
                  <a:pt x="0" y="0"/>
                </a:moveTo>
                <a:lnTo>
                  <a:pt x="109537" y="0"/>
                </a:lnTo>
                <a:lnTo>
                  <a:pt x="109537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848859" y="3123377"/>
            <a:ext cx="10953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173" y="3130521"/>
            <a:ext cx="142875" cy="14287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47555" y="3907403"/>
            <a:ext cx="1109662" cy="166688"/>
          </a:xfrm>
          <a:custGeom>
            <a:avLst/>
            <a:gdLst/>
            <a:ahLst/>
            <a:cxnLst/>
            <a:rect l="l" t="t" r="r" b="b"/>
            <a:pathLst>
              <a:path w="1109662" h="166688">
                <a:moveTo>
                  <a:pt x="0" y="0"/>
                </a:moveTo>
                <a:lnTo>
                  <a:pt x="1109662" y="0"/>
                </a:lnTo>
                <a:lnTo>
                  <a:pt x="1109662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8"/>
          <p:cNvSpPr/>
          <p:nvPr/>
        </p:nvSpPr>
        <p:spPr>
          <a:xfrm>
            <a:off x="847555" y="3907403"/>
            <a:ext cx="1109662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609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dataset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47555" y="4120043"/>
            <a:ext cx="1109662" cy="309562"/>
          </a:xfrm>
          <a:custGeom>
            <a:avLst/>
            <a:gdLst/>
            <a:ahLst/>
            <a:cxnLst/>
            <a:rect l="l" t="t" r="r" b="b"/>
            <a:pathLst>
              <a:path w="1109662" h="309562">
                <a:moveTo>
                  <a:pt x="0" y="0"/>
                </a:moveTo>
                <a:lnTo>
                  <a:pt x="1109662" y="0"/>
                </a:lnTo>
                <a:lnTo>
                  <a:pt x="1109662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0"/>
          <p:cNvSpPr/>
          <p:nvPr/>
        </p:nvSpPr>
        <p:spPr>
          <a:xfrm>
            <a:off x="847555" y="4120043"/>
            <a:ext cx="1109662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1000"/>
              <a:t>2025 hourly AQI data</a:t>
            </a:r>
            <a:endParaRPr lang="en-US" sz="9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173" y="3700037"/>
            <a:ext cx="152400" cy="1524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2442653" y="2980914"/>
            <a:ext cx="1395412" cy="1590675"/>
          </a:xfrm>
          <a:custGeom>
            <a:avLst/>
            <a:gdLst/>
            <a:ahLst/>
            <a:cxnLst/>
            <a:rect l="l" t="t" r="r" b="b"/>
            <a:pathLst>
              <a:path w="1395412" h="1590675">
                <a:moveTo>
                  <a:pt x="62417" y="0"/>
                </a:moveTo>
                <a:lnTo>
                  <a:pt x="1332996" y="0"/>
                </a:lnTo>
                <a:quadBezTo>
                  <a:pt x="1395412" y="0"/>
                  <a:pt x="1395412" y="62417"/>
                </a:quadBezTo>
                <a:lnTo>
                  <a:pt x="1395412" y="1528258"/>
                </a:lnTo>
                <a:quadBezTo>
                  <a:pt x="1395412" y="1590675"/>
                  <a:pt x="1332996" y="1590675"/>
                </a:quadBezTo>
                <a:lnTo>
                  <a:pt x="62417" y="1590675"/>
                </a:lnTo>
                <a:quadBezTo>
                  <a:pt x="0" y="1590675"/>
                  <a:pt x="0" y="1528258"/>
                </a:quadBezTo>
                <a:lnTo>
                  <a:pt x="0" y="62417"/>
                </a:lnTo>
                <a:quadBezTo>
                  <a:pt x="0" y="0"/>
                  <a:pt x="62417" y="0"/>
                </a:quadBezTo>
                <a:close/>
              </a:path>
            </a:pathLst>
          </a:custGeom>
          <a:solidFill>
            <a:srgbClr val="DDE8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2"/>
          <p:cNvSpPr/>
          <p:nvPr/>
        </p:nvSpPr>
        <p:spPr>
          <a:xfrm>
            <a:off x="2585301" y="3123377"/>
            <a:ext cx="133350" cy="157163"/>
          </a:xfrm>
          <a:custGeom>
            <a:avLst/>
            <a:gdLst/>
            <a:ahLst/>
            <a:cxnLst/>
            <a:rect l="l" t="t" r="r" b="b"/>
            <a:pathLst>
              <a:path w="133350" h="157163">
                <a:moveTo>
                  <a:pt x="0" y="0"/>
                </a:moveTo>
                <a:lnTo>
                  <a:pt x="133350" y="0"/>
                </a:lnTo>
                <a:lnTo>
                  <a:pt x="13335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3"/>
          <p:cNvSpPr/>
          <p:nvPr/>
        </p:nvSpPr>
        <p:spPr>
          <a:xfrm>
            <a:off x="2585301" y="3123377"/>
            <a:ext cx="133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2146" y="3130521"/>
            <a:ext cx="142875" cy="14287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2585528" y="3907403"/>
            <a:ext cx="1109662" cy="166688"/>
          </a:xfrm>
          <a:custGeom>
            <a:avLst/>
            <a:gdLst/>
            <a:ahLst/>
            <a:cxnLst/>
            <a:rect l="l" t="t" r="r" b="b"/>
            <a:pathLst>
              <a:path w="1109662" h="166688">
                <a:moveTo>
                  <a:pt x="0" y="0"/>
                </a:moveTo>
                <a:lnTo>
                  <a:pt x="1109662" y="0"/>
                </a:lnTo>
                <a:lnTo>
                  <a:pt x="1109662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5"/>
          <p:cNvSpPr/>
          <p:nvPr/>
        </p:nvSpPr>
        <p:spPr>
          <a:xfrm>
            <a:off x="2585528" y="3907403"/>
            <a:ext cx="1109662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609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Query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2585528" y="4120043"/>
            <a:ext cx="1109662" cy="309562"/>
          </a:xfrm>
          <a:custGeom>
            <a:avLst/>
            <a:gdLst/>
            <a:ahLst/>
            <a:cxnLst/>
            <a:rect l="l" t="t" r="r" b="b"/>
            <a:pathLst>
              <a:path w="1109662" h="309562">
                <a:moveTo>
                  <a:pt x="0" y="0"/>
                </a:moveTo>
                <a:lnTo>
                  <a:pt x="1109662" y="0"/>
                </a:lnTo>
                <a:lnTo>
                  <a:pt x="1109662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27"/>
          <p:cNvSpPr/>
          <p:nvPr/>
        </p:nvSpPr>
        <p:spPr>
          <a:xfrm>
            <a:off x="2585528" y="4120043"/>
            <a:ext cx="1109662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1000"/>
              <a:t>Cleaned &amp; transformed</a:t>
            </a:r>
            <a:endParaRPr lang="en-US" sz="9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3146" y="3700037"/>
            <a:ext cx="152400" cy="15240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4180625" y="2980914"/>
            <a:ext cx="1395412" cy="1590675"/>
          </a:xfrm>
          <a:custGeom>
            <a:avLst/>
            <a:gdLst/>
            <a:ahLst/>
            <a:cxnLst/>
            <a:rect l="l" t="t" r="r" b="b"/>
            <a:pathLst>
              <a:path w="1395412" h="1590675">
                <a:moveTo>
                  <a:pt x="62417" y="0"/>
                </a:moveTo>
                <a:lnTo>
                  <a:pt x="1332996" y="0"/>
                </a:lnTo>
                <a:quadBezTo>
                  <a:pt x="1395412" y="0"/>
                  <a:pt x="1395412" y="62417"/>
                </a:quadBezTo>
                <a:lnTo>
                  <a:pt x="1395412" y="1528258"/>
                </a:lnTo>
                <a:quadBezTo>
                  <a:pt x="1395412" y="1590675"/>
                  <a:pt x="1332996" y="1590675"/>
                </a:quadBezTo>
                <a:lnTo>
                  <a:pt x="62417" y="1590675"/>
                </a:lnTo>
                <a:quadBezTo>
                  <a:pt x="0" y="1590675"/>
                  <a:pt x="0" y="1528258"/>
                </a:quadBezTo>
                <a:lnTo>
                  <a:pt x="0" y="62417"/>
                </a:lnTo>
                <a:quadBezTo>
                  <a:pt x="0" y="0"/>
                  <a:pt x="62417" y="0"/>
                </a:quadBezTo>
                <a:close/>
              </a:path>
            </a:pathLst>
          </a:custGeom>
          <a:solidFill>
            <a:srgbClr val="1B5E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29"/>
          <p:cNvSpPr/>
          <p:nvPr/>
        </p:nvSpPr>
        <p:spPr>
          <a:xfrm>
            <a:off x="4323061" y="3123377"/>
            <a:ext cx="133350" cy="157163"/>
          </a:xfrm>
          <a:custGeom>
            <a:avLst/>
            <a:gdLst/>
            <a:ahLst/>
            <a:cxnLst/>
            <a:rect l="l" t="t" r="r" b="b"/>
            <a:pathLst>
              <a:path w="133350" h="157163">
                <a:moveTo>
                  <a:pt x="0" y="0"/>
                </a:moveTo>
                <a:lnTo>
                  <a:pt x="133350" y="0"/>
                </a:lnTo>
                <a:lnTo>
                  <a:pt x="13335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0"/>
          <p:cNvSpPr/>
          <p:nvPr/>
        </p:nvSpPr>
        <p:spPr>
          <a:xfrm>
            <a:off x="4323061" y="3123377"/>
            <a:ext cx="133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A5D6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0114" y="3130521"/>
            <a:ext cx="142875" cy="142875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4323500" y="3744288"/>
            <a:ext cx="1109662" cy="328613"/>
          </a:xfrm>
          <a:custGeom>
            <a:avLst/>
            <a:gdLst/>
            <a:ahLst/>
            <a:cxnLst/>
            <a:rect l="l" t="t" r="r" b="b"/>
            <a:pathLst>
              <a:path w="1109662" h="328613">
                <a:moveTo>
                  <a:pt x="0" y="0"/>
                </a:moveTo>
                <a:lnTo>
                  <a:pt x="1109662" y="0"/>
                </a:lnTo>
                <a:lnTo>
                  <a:pt x="1109662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2"/>
          <p:cNvSpPr/>
          <p:nvPr/>
        </p:nvSpPr>
        <p:spPr>
          <a:xfrm>
            <a:off x="4323500" y="3744288"/>
            <a:ext cx="11096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609"/>
              </a:lnSpc>
              <a:spcBef>
                <a:spcPts val="281"/>
              </a:spcBef>
              <a:buNone/>
            </a:pPr>
            <a:r>
              <a:rPr sz="1200" b="1">
                <a:solidFill>
                  <a:srgbClr val="FFFFFF"/>
                </a:solidFill>
              </a:rPr>
              <a:t>Dashboard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4323500" y="4120043"/>
            <a:ext cx="1109662" cy="309562"/>
          </a:xfrm>
          <a:custGeom>
            <a:avLst/>
            <a:gdLst/>
            <a:ahLst/>
            <a:cxnLst/>
            <a:rect l="l" t="t" r="r" b="b"/>
            <a:pathLst>
              <a:path w="1109662" h="309562">
                <a:moveTo>
                  <a:pt x="0" y="0"/>
                </a:moveTo>
                <a:lnTo>
                  <a:pt x="1109662" y="0"/>
                </a:lnTo>
                <a:lnTo>
                  <a:pt x="1109662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34"/>
          <p:cNvSpPr/>
          <p:nvPr/>
        </p:nvSpPr>
        <p:spPr>
          <a:xfrm>
            <a:off x="4323500" y="4120043"/>
            <a:ext cx="11096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900" b="0">
                <a:solidFill>
                  <a:srgbClr val="FFFFFF"/>
                </a:solidFill>
              </a:rPr>
              <a:t>KPIs • charts • slicers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6076950" y="2028413"/>
            <a:ext cx="2595563" cy="2771775"/>
          </a:xfrm>
          <a:custGeom>
            <a:avLst/>
            <a:gdLst/>
            <a:ahLst/>
            <a:cxnLst/>
            <a:rect l="l" t="t" r="r" b="b"/>
            <a:pathLst>
              <a:path w="2595563" h="2771775">
                <a:moveTo>
                  <a:pt x="46980" y="0"/>
                </a:moveTo>
                <a:lnTo>
                  <a:pt x="2548583" y="0"/>
                </a:lnTo>
                <a:quadBezTo>
                  <a:pt x="2595563" y="0"/>
                  <a:pt x="2595563" y="46980"/>
                </a:quadBezTo>
                <a:lnTo>
                  <a:pt x="2595563" y="2724795"/>
                </a:lnTo>
                <a:quadBezTo>
                  <a:pt x="2595563" y="2771775"/>
                  <a:pt x="2548583" y="2771775"/>
                </a:quadBezTo>
                <a:lnTo>
                  <a:pt x="46980" y="2771775"/>
                </a:lnTo>
                <a:quadBezTo>
                  <a:pt x="0" y="2771775"/>
                  <a:pt x="0" y="2724795"/>
                </a:quadBezTo>
                <a:lnTo>
                  <a:pt x="0" y="46980"/>
                </a:lnTo>
                <a:quadBezTo>
                  <a:pt x="0" y="0"/>
                  <a:pt x="46980" y="0"/>
                </a:quadBezTo>
                <a:close/>
              </a:path>
            </a:pathLst>
          </a:custGeom>
          <a:solidFill>
            <a:srgbClr val="1B5E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36"/>
          <p:cNvSpPr/>
          <p:nvPr/>
        </p:nvSpPr>
        <p:spPr>
          <a:xfrm>
            <a:off x="6299736" y="22566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66BB6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1173" y="2328040"/>
            <a:ext cx="161925" cy="161925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6300246" y="2666347"/>
            <a:ext cx="2176462" cy="447675"/>
          </a:xfrm>
          <a:custGeom>
            <a:avLst/>
            <a:gdLst/>
            <a:ahLst/>
            <a:cxnLst/>
            <a:rect l="l" t="t" r="r" b="b"/>
            <a:pathLst>
              <a:path w="2176462" h="447675">
                <a:moveTo>
                  <a:pt x="0" y="0"/>
                </a:moveTo>
                <a:lnTo>
                  <a:pt x="2176462" y="0"/>
                </a:lnTo>
                <a:lnTo>
                  <a:pt x="2176462" y="447675"/>
                </a:lnTo>
                <a:lnTo>
                  <a:pt x="0" y="4476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38"/>
          <p:cNvSpPr/>
          <p:nvPr/>
        </p:nvSpPr>
        <p:spPr>
          <a:xfrm>
            <a:off x="6685357" y="2105605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783"/>
              </a:lnSpc>
              <a:spcBef>
                <a:spcPts val="281"/>
              </a:spcBef>
              <a:buNone/>
            </a:pPr>
            <a:r>
              <a:rPr sz="1200" b="1" dirty="0">
                <a:solidFill>
                  <a:srgbClr val="FFFFFF"/>
                </a:solidFill>
              </a:rPr>
              <a:t>ONE INTERACTIVE VIEW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6300246" y="3218456"/>
            <a:ext cx="2176462" cy="581025"/>
          </a:xfrm>
          <a:custGeom>
            <a:avLst/>
            <a:gdLst/>
            <a:ahLst/>
            <a:cxnLst/>
            <a:rect l="l" t="t" r="r" b="b"/>
            <a:pathLst>
              <a:path w="2176462" h="581025">
                <a:moveTo>
                  <a:pt x="0" y="0"/>
                </a:moveTo>
                <a:lnTo>
                  <a:pt x="2176462" y="0"/>
                </a:lnTo>
                <a:lnTo>
                  <a:pt x="2176462" y="581025"/>
                </a:lnTo>
                <a:lnTo>
                  <a:pt x="0" y="5810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dirty="0">
              <a:solidFill>
                <a:schemeClr val="bg1"/>
              </a:solidFill>
            </a:endParaRPr>
          </a:p>
        </p:txBody>
      </p:sp>
      <p:sp>
        <p:nvSpPr>
          <p:cNvPr id="50" name="Text 40"/>
          <p:cNvSpPr/>
          <p:nvPr/>
        </p:nvSpPr>
        <p:spPr>
          <a:xfrm>
            <a:off x="6400800" y="2670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sz="1000" b="0">
                <a:solidFill>
                  <a:srgbClr val="FFFFFF"/>
                </a:solidFill>
              </a:rPr>
              <a:t>Compare • Filter • Analyze</a:t>
            </a:r>
            <a:endParaRPr lang="en-US" sz="900" dirty="0"/>
          </a:p>
        </p:txBody>
      </p:sp>
      <p:sp>
        <p:nvSpPr>
          <p:cNvPr id="51" name="Shape 41"/>
          <p:cNvSpPr/>
          <p:nvPr/>
        </p:nvSpPr>
        <p:spPr>
          <a:xfrm>
            <a:off x="6300246" y="4077282"/>
            <a:ext cx="2176462" cy="495300"/>
          </a:xfrm>
          <a:custGeom>
            <a:avLst/>
            <a:gdLst/>
            <a:ahLst/>
            <a:cxnLst/>
            <a:rect l="l" t="t" r="r" b="b"/>
            <a:pathLst>
              <a:path w="2176462" h="495300">
                <a:moveTo>
                  <a:pt x="0" y="0"/>
                </a:moveTo>
                <a:lnTo>
                  <a:pt x="2176462" y="0"/>
                </a:lnTo>
                <a:lnTo>
                  <a:pt x="2176462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42"/>
          <p:cNvSpPr/>
          <p:nvPr/>
        </p:nvSpPr>
        <p:spPr>
          <a:xfrm>
            <a:off x="6300246" y="4213877"/>
            <a:ext cx="2176462" cy="138113"/>
          </a:xfrm>
          <a:custGeom>
            <a:avLst/>
            <a:gdLst/>
            <a:ahLst/>
            <a:cxnLst/>
            <a:rect l="l" t="t" r="r" b="b"/>
            <a:pathLst>
              <a:path w="2176462" h="138113">
                <a:moveTo>
                  <a:pt x="0" y="0"/>
                </a:moveTo>
                <a:lnTo>
                  <a:pt x="2176462" y="0"/>
                </a:lnTo>
                <a:lnTo>
                  <a:pt x="2176462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43"/>
          <p:cNvSpPr/>
          <p:nvPr/>
        </p:nvSpPr>
        <p:spPr>
          <a:xfrm>
            <a:off x="6300246" y="4213877"/>
            <a:ext cx="217646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A5D6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WITH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6300246" y="4399600"/>
            <a:ext cx="2176462" cy="171450"/>
          </a:xfrm>
          <a:custGeom>
            <a:avLst/>
            <a:gdLst/>
            <a:ahLst/>
            <a:cxnLst/>
            <a:rect l="l" t="t" r="r" b="b"/>
            <a:pathLst>
              <a:path w="2176462" h="171450">
                <a:moveTo>
                  <a:pt x="0" y="0"/>
                </a:moveTo>
                <a:lnTo>
                  <a:pt x="2176462" y="0"/>
                </a:lnTo>
                <a:lnTo>
                  <a:pt x="2176462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45"/>
          <p:cNvSpPr/>
          <p:nvPr/>
        </p:nvSpPr>
        <p:spPr>
          <a:xfrm>
            <a:off x="6300246" y="4399600"/>
            <a:ext cx="21764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+ Power Query</a:t>
            </a:r>
            <a:endParaRPr lang="en-US" sz="900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0246" y="4077282"/>
            <a:ext cx="2176462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438150" y="342417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38150" y="342417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7314" y="599578"/>
            <a:ext cx="3976687" cy="328613"/>
          </a:xfrm>
          <a:custGeom>
            <a:avLst/>
            <a:gdLst/>
            <a:ahLst/>
            <a:cxnLst/>
            <a:rect l="l" t="t" r="r" b="b"/>
            <a:pathLst>
              <a:path w="3976687" h="328613">
                <a:moveTo>
                  <a:pt x="0" y="0"/>
                </a:moveTo>
                <a:lnTo>
                  <a:pt x="3976687" y="0"/>
                </a:lnTo>
                <a:lnTo>
                  <a:pt x="3976687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37314" y="599578"/>
            <a:ext cx="3976687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t>Delhi Weather &amp; AQI 2025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00725" y="546411"/>
            <a:ext cx="2905125" cy="357188"/>
          </a:xfrm>
          <a:custGeom>
            <a:avLst/>
            <a:gdLst/>
            <a:ahLst/>
            <a:cxnLst/>
            <a:rect l="l" t="t" r="r" b="b"/>
            <a:pathLst>
              <a:path w="2905125" h="357188">
                <a:moveTo>
                  <a:pt x="0" y="0"/>
                </a:moveTo>
                <a:lnTo>
                  <a:pt x="2905125" y="0"/>
                </a:lnTo>
                <a:lnTo>
                  <a:pt x="2905125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238875" y="123833"/>
            <a:ext cx="290512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sz="1200" dirty="0"/>
              <a:t>52,560 hourly observations</a:t>
            </a:r>
            <a:br>
              <a:rPr sz="1200" dirty="0"/>
            </a:br>
            <a:r>
              <a:rPr sz="1200" dirty="0"/>
              <a:t>6 monitoring locations</a:t>
            </a:r>
            <a:br>
              <a:rPr sz="1200" dirty="0"/>
            </a:br>
            <a:r>
              <a:rPr sz="1200" dirty="0"/>
              <a:t>January–December 2025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150" y="993774"/>
            <a:ext cx="8267700" cy="23812"/>
          </a:xfrm>
          <a:custGeom>
            <a:avLst/>
            <a:gdLst/>
            <a:ahLst/>
            <a:cxnLst/>
            <a:rect l="l" t="t" r="r" b="b"/>
            <a:pathLst>
              <a:path w="8267700" h="23812">
                <a:moveTo>
                  <a:pt x="0" y="0"/>
                </a:moveTo>
                <a:lnTo>
                  <a:pt x="8267700" y="0"/>
                </a:lnTo>
                <a:lnTo>
                  <a:pt x="8267700" y="23812"/>
                </a:lnTo>
                <a:lnTo>
                  <a:pt x="0" y="23812"/>
                </a:lnTo>
                <a:close/>
              </a:path>
            </a:pathLst>
          </a:custGeom>
          <a:solidFill>
            <a:srgbClr val="1B5E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39043" y="1540499"/>
            <a:ext cx="4724400" cy="161925"/>
          </a:xfrm>
          <a:custGeom>
            <a:avLst/>
            <a:gdLst/>
            <a:ahLst/>
            <a:cxnLst/>
            <a:rect l="l" t="t" r="r" b="b"/>
            <a:pathLst>
              <a:path w="4724400" h="161925">
                <a:moveTo>
                  <a:pt x="0" y="0"/>
                </a:moveTo>
                <a:lnTo>
                  <a:pt x="4724400" y="0"/>
                </a:lnTo>
                <a:lnTo>
                  <a:pt x="4724400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439043" y="1288389"/>
            <a:ext cx="47244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snapshot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39043" y="4473177"/>
            <a:ext cx="4724400" cy="347663"/>
          </a:xfrm>
          <a:custGeom>
            <a:avLst/>
            <a:gdLst/>
            <a:ahLst/>
            <a:cxnLst/>
            <a:rect l="l" t="t" r="r" b="b"/>
            <a:pathLst>
              <a:path w="4724400" h="347663">
                <a:moveTo>
                  <a:pt x="43840" y="0"/>
                </a:moveTo>
                <a:lnTo>
                  <a:pt x="4680560" y="0"/>
                </a:lnTo>
                <a:quadBezTo>
                  <a:pt x="4724400" y="0"/>
                  <a:pt x="4724400" y="43840"/>
                </a:quadBezTo>
                <a:lnTo>
                  <a:pt x="4724400" y="303822"/>
                </a:lnTo>
                <a:quadBezTo>
                  <a:pt x="4724400" y="347663"/>
                  <a:pt x="4680560" y="347663"/>
                </a:quadBezTo>
                <a:lnTo>
                  <a:pt x="43840" y="347663"/>
                </a:lnTo>
                <a:quadBezTo>
                  <a:pt x="0" y="347663"/>
                  <a:pt x="0" y="303822"/>
                </a:quadBezTo>
                <a:lnTo>
                  <a:pt x="0" y="43840"/>
                </a:lnTo>
                <a:quadBezTo>
                  <a:pt x="0" y="0"/>
                  <a:pt x="43840" y="0"/>
                </a:quadBezTo>
                <a:close/>
              </a:path>
            </a:pathLst>
          </a:custGeom>
          <a:solidFill>
            <a:srgbClr val="E8F1E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4575573"/>
            <a:ext cx="142875" cy="14287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90774" y="4568427"/>
            <a:ext cx="4095750" cy="157163"/>
          </a:xfrm>
          <a:custGeom>
            <a:avLst/>
            <a:gdLst/>
            <a:ahLst/>
            <a:cxnLst/>
            <a:rect l="l" t="t" r="r" b="b"/>
            <a:pathLst>
              <a:path w="4095750" h="157163">
                <a:moveTo>
                  <a:pt x="0" y="0"/>
                </a:moveTo>
                <a:lnTo>
                  <a:pt x="4095750" y="0"/>
                </a:lnTo>
                <a:lnTo>
                  <a:pt x="409575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790774" y="4568427"/>
            <a:ext cx="4095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1100" b="1">
                <a:solidFill>
                  <a:srgbClr val="4B5A4E"/>
                </a:solidFill>
              </a:rPr>
              <a:t>52,560 rows • 16 original columns • 6 locations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442145" y="1188720"/>
            <a:ext cx="3286125" cy="3632120"/>
          </a:xfrm>
          <a:custGeom>
            <a:avLst/>
            <a:gdLst/>
            <a:ahLst/>
            <a:cxnLst/>
            <a:rect l="l" t="t" r="r" b="b"/>
            <a:pathLst>
              <a:path w="3286125" h="3276600">
                <a:moveTo>
                  <a:pt x="23919" y="0"/>
                </a:moveTo>
                <a:lnTo>
                  <a:pt x="3262206" y="0"/>
                </a:lnTo>
                <a:quadBezTo>
                  <a:pt x="3286125" y="0"/>
                  <a:pt x="3286125" y="23919"/>
                </a:quadBezTo>
                <a:lnTo>
                  <a:pt x="3286125" y="3252681"/>
                </a:lnTo>
                <a:quadBezTo>
                  <a:pt x="3286125" y="3276600"/>
                  <a:pt x="3262206" y="3276600"/>
                </a:quadBezTo>
                <a:lnTo>
                  <a:pt x="23919" y="3276600"/>
                </a:lnTo>
                <a:quadBezTo>
                  <a:pt x="0" y="3276600"/>
                  <a:pt x="0" y="3252681"/>
                </a:quadBezTo>
                <a:lnTo>
                  <a:pt x="0" y="23919"/>
                </a:lnTo>
                <a:quadBezTo>
                  <a:pt x="0" y="0"/>
                  <a:pt x="23919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33350" dist="47625" dir="2700000" algn="bl" rotWithShape="0">
              <a:srgbClr val="1F2933">
                <a:alpha val="7843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5739691" y="1501847"/>
            <a:ext cx="2867025" cy="138113"/>
          </a:xfrm>
          <a:custGeom>
            <a:avLst/>
            <a:gdLst/>
            <a:ahLst/>
            <a:cxnLst/>
            <a:rect l="l" t="t" r="r" b="b"/>
            <a:pathLst>
              <a:path w="2867025" h="138113">
                <a:moveTo>
                  <a:pt x="0" y="0"/>
                </a:moveTo>
                <a:lnTo>
                  <a:pt x="2867025" y="0"/>
                </a:lnTo>
                <a:lnTo>
                  <a:pt x="28670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5639678" y="1447099"/>
            <a:ext cx="28670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FIELD GROUPS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630154" y="1935786"/>
            <a:ext cx="2867025" cy="219075"/>
          </a:xfrm>
          <a:custGeom>
            <a:avLst/>
            <a:gdLst/>
            <a:ahLst/>
            <a:cxnLst/>
            <a:rect l="l" t="t" r="r" b="b"/>
            <a:pathLst>
              <a:path w="2867025" h="219075">
                <a:moveTo>
                  <a:pt x="0" y="0"/>
                </a:moveTo>
                <a:lnTo>
                  <a:pt x="2867025" y="0"/>
                </a:lnTo>
                <a:lnTo>
                  <a:pt x="2867025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8"/>
          <p:cNvSpPr/>
          <p:nvPr/>
        </p:nvSpPr>
        <p:spPr>
          <a:xfrm>
            <a:off x="5639678" y="1639960"/>
            <a:ext cx="28670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sz="1700" b="1" dirty="0">
                <a:solidFill>
                  <a:srgbClr val="232D37"/>
                </a:solidFill>
              </a:rPr>
              <a:t>KEY FIELD GROUPS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663371" y="1802769"/>
            <a:ext cx="2867025" cy="809625"/>
          </a:xfrm>
          <a:custGeom>
            <a:avLst/>
            <a:gdLst/>
            <a:ahLst/>
            <a:cxnLst/>
            <a:rect l="l" t="t" r="r" b="b"/>
            <a:pathLst>
              <a:path w="2867025" h="809625">
                <a:moveTo>
                  <a:pt x="0" y="0"/>
                </a:moveTo>
                <a:lnTo>
                  <a:pt x="2867025" y="0"/>
                </a:lnTo>
                <a:lnTo>
                  <a:pt x="2867025" y="809625"/>
                </a:lnTo>
                <a:lnTo>
                  <a:pt x="0" y="8096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0"/>
          <p:cNvSpPr/>
          <p:nvPr/>
        </p:nvSpPr>
        <p:spPr>
          <a:xfrm>
            <a:off x="5631060" y="203497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57151" y="0"/>
                </a:moveTo>
                <a:lnTo>
                  <a:pt x="209549" y="0"/>
                </a:lnTo>
                <a:quadBezTo>
                  <a:pt x="266700" y="0"/>
                  <a:pt x="266700" y="57151"/>
                </a:quadBezTo>
                <a:lnTo>
                  <a:pt x="266700" y="209549"/>
                </a:lnTo>
                <a:quadBezTo>
                  <a:pt x="266700" y="266700"/>
                  <a:pt x="209549" y="266700"/>
                </a:quadBezTo>
                <a:lnTo>
                  <a:pt x="57151" y="266700"/>
                </a:lnTo>
                <a:quadBezTo>
                  <a:pt x="0" y="266700"/>
                  <a:pt x="0" y="209549"/>
                </a:quadBezTo>
                <a:lnTo>
                  <a:pt x="0" y="57151"/>
                </a:lnTo>
                <a:quadBezTo>
                  <a:pt x="0" y="0"/>
                  <a:pt x="57151" y="0"/>
                </a:quadBezTo>
                <a:close/>
              </a:path>
            </a:pathLst>
          </a:custGeom>
          <a:solidFill>
            <a:srgbClr val="E8F1E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1303" y="2089007"/>
            <a:ext cx="142875" cy="14287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6001629" y="2377450"/>
            <a:ext cx="2495550" cy="176212"/>
          </a:xfrm>
          <a:custGeom>
            <a:avLst/>
            <a:gdLst/>
            <a:ahLst/>
            <a:cxnLst/>
            <a:rect l="l" t="t" r="r" b="b"/>
            <a:pathLst>
              <a:path w="2495550" h="176212">
                <a:moveTo>
                  <a:pt x="0" y="0"/>
                </a:moveTo>
                <a:lnTo>
                  <a:pt x="2495550" y="0"/>
                </a:lnTo>
                <a:lnTo>
                  <a:pt x="2495550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6011153" y="2027565"/>
            <a:ext cx="2495550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Weather measurements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018238" y="2341918"/>
            <a:ext cx="2495550" cy="323850"/>
          </a:xfrm>
          <a:custGeom>
            <a:avLst/>
            <a:gdLst/>
            <a:ahLst/>
            <a:cxnLst/>
            <a:rect l="l" t="t" r="r" b="b"/>
            <a:pathLst>
              <a:path w="2495550" h="323850">
                <a:moveTo>
                  <a:pt x="0" y="0"/>
                </a:moveTo>
                <a:lnTo>
                  <a:pt x="2495550" y="0"/>
                </a:lnTo>
                <a:lnTo>
                  <a:pt x="2495550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4"/>
          <p:cNvSpPr/>
          <p:nvPr/>
        </p:nvSpPr>
        <p:spPr>
          <a:xfrm>
            <a:off x="6026542" y="2236132"/>
            <a:ext cx="2495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sz="900" dirty="0"/>
              <a:t>Temperature</a:t>
            </a:r>
            <a:br>
              <a:rPr sz="900" dirty="0"/>
            </a:br>
            <a:r>
              <a:rPr sz="900" dirty="0"/>
              <a:t>Humidity</a:t>
            </a:r>
            <a:br>
              <a:rPr sz="900" dirty="0"/>
            </a:br>
            <a:r>
              <a:rPr sz="900" dirty="0"/>
              <a:t>Pressure</a:t>
            </a:r>
            <a:br>
              <a:rPr sz="900" dirty="0"/>
            </a:br>
            <a:r>
              <a:rPr sz="900" dirty="0"/>
              <a:t>Wind speed</a:t>
            </a:r>
            <a:br>
              <a:rPr sz="900" dirty="0"/>
            </a:br>
            <a:r>
              <a:rPr sz="900" dirty="0"/>
              <a:t>Weather condition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631061" y="333071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57151" y="0"/>
                </a:moveTo>
                <a:lnTo>
                  <a:pt x="209549" y="0"/>
                </a:lnTo>
                <a:quadBezTo>
                  <a:pt x="266700" y="0"/>
                  <a:pt x="266700" y="57151"/>
                </a:quadBezTo>
                <a:lnTo>
                  <a:pt x="266700" y="209549"/>
                </a:lnTo>
                <a:quadBezTo>
                  <a:pt x="266700" y="266700"/>
                  <a:pt x="209549" y="266700"/>
                </a:quadBezTo>
                <a:lnTo>
                  <a:pt x="57151" y="266700"/>
                </a:lnTo>
                <a:quadBezTo>
                  <a:pt x="0" y="266700"/>
                  <a:pt x="0" y="209549"/>
                </a:quadBezTo>
                <a:lnTo>
                  <a:pt x="0" y="57151"/>
                </a:lnTo>
                <a:quadBezTo>
                  <a:pt x="0" y="0"/>
                  <a:pt x="57151" y="0"/>
                </a:quadBezTo>
                <a:close/>
              </a:path>
            </a:pathLst>
          </a:custGeom>
          <a:solidFill>
            <a:srgbClr val="E8F1E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973" y="3392628"/>
            <a:ext cx="142875" cy="142875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6001629" y="3330233"/>
            <a:ext cx="2495550" cy="176212"/>
          </a:xfrm>
          <a:custGeom>
            <a:avLst/>
            <a:gdLst/>
            <a:ahLst/>
            <a:cxnLst/>
            <a:rect l="l" t="t" r="r" b="b"/>
            <a:pathLst>
              <a:path w="2495550" h="176212">
                <a:moveTo>
                  <a:pt x="0" y="0"/>
                </a:moveTo>
                <a:lnTo>
                  <a:pt x="2495550" y="0"/>
                </a:lnTo>
                <a:lnTo>
                  <a:pt x="2495550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27"/>
          <p:cNvSpPr/>
          <p:nvPr/>
        </p:nvSpPr>
        <p:spPr>
          <a:xfrm>
            <a:off x="5995915" y="3133295"/>
            <a:ext cx="2495550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Air-quality measurements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065240" y="3438100"/>
            <a:ext cx="2495550" cy="323850"/>
          </a:xfrm>
          <a:custGeom>
            <a:avLst/>
            <a:gdLst/>
            <a:ahLst/>
            <a:cxnLst/>
            <a:rect l="l" t="t" r="r" b="b"/>
            <a:pathLst>
              <a:path w="2495550" h="323850">
                <a:moveTo>
                  <a:pt x="0" y="0"/>
                </a:moveTo>
                <a:lnTo>
                  <a:pt x="2495550" y="0"/>
                </a:lnTo>
                <a:lnTo>
                  <a:pt x="2495550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29"/>
          <p:cNvSpPr/>
          <p:nvPr/>
        </p:nvSpPr>
        <p:spPr>
          <a:xfrm>
            <a:off x="6041733" y="3307885"/>
            <a:ext cx="2495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sz="1000" dirty="0"/>
              <a:t>AQI</a:t>
            </a:r>
            <a:br>
              <a:rPr sz="1000" dirty="0"/>
            </a:br>
            <a:r>
              <a:rPr sz="1000" dirty="0"/>
              <a:t>PM2.5</a:t>
            </a:r>
            <a:br>
              <a:rPr sz="1000" dirty="0"/>
            </a:br>
            <a:r>
              <a:rPr sz="1000" dirty="0"/>
              <a:t>PM10</a:t>
            </a:r>
            <a:br>
              <a:rPr sz="1000" dirty="0"/>
            </a:br>
            <a:r>
              <a:rPr sz="1000" dirty="0"/>
              <a:t>CO</a:t>
            </a:r>
            <a:br>
              <a:rPr sz="1000" dirty="0"/>
            </a:br>
            <a:r>
              <a:rPr sz="1000" dirty="0"/>
              <a:t>NO₂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5670258" y="4259851"/>
            <a:ext cx="2867025" cy="528638"/>
          </a:xfrm>
          <a:custGeom>
            <a:avLst/>
            <a:gdLst/>
            <a:ahLst/>
            <a:cxnLst/>
            <a:rect l="l" t="t" r="r" b="b"/>
            <a:pathLst>
              <a:path w="2867025" h="528638">
                <a:moveTo>
                  <a:pt x="115328" y="0"/>
                </a:moveTo>
                <a:lnTo>
                  <a:pt x="2751697" y="0"/>
                </a:lnTo>
                <a:quadBezTo>
                  <a:pt x="2867025" y="0"/>
                  <a:pt x="2867025" y="115328"/>
                </a:quadBezTo>
                <a:lnTo>
                  <a:pt x="2867025" y="413310"/>
                </a:lnTo>
                <a:quadBezTo>
                  <a:pt x="2867025" y="528638"/>
                  <a:pt x="2751697" y="528638"/>
                </a:quadBezTo>
                <a:lnTo>
                  <a:pt x="115328" y="528638"/>
                </a:lnTo>
                <a:quadBezTo>
                  <a:pt x="0" y="528638"/>
                  <a:pt x="0" y="413310"/>
                </a:quadBezTo>
                <a:lnTo>
                  <a:pt x="0" y="115328"/>
                </a:lnTo>
                <a:quadBezTo>
                  <a:pt x="0" y="0"/>
                  <a:pt x="115328" y="0"/>
                </a:quadBezTo>
                <a:close/>
              </a:path>
            </a:pathLst>
          </a:custGeom>
          <a:solidFill>
            <a:srgbClr val="1B5E20"/>
          </a:solidFill>
          <a:ln/>
        </p:spPr>
        <p:txBody>
          <a:bodyPr/>
          <a:lstStyle/>
          <a:p>
            <a:endParaRPr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4886" y="4289823"/>
            <a:ext cx="133350" cy="133350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6014208" y="4333693"/>
            <a:ext cx="2400300" cy="300038"/>
          </a:xfrm>
          <a:custGeom>
            <a:avLst/>
            <a:gdLst/>
            <a:ahLst/>
            <a:cxnLst/>
            <a:rect l="l" t="t" r="r" b="b"/>
            <a:pathLst>
              <a:path w="2400300" h="300038">
                <a:moveTo>
                  <a:pt x="0" y="0"/>
                </a:moveTo>
                <a:lnTo>
                  <a:pt x="2400300" y="0"/>
                </a:lnTo>
                <a:lnTo>
                  <a:pt x="2400300" y="300038"/>
                </a:lnTo>
                <a:lnTo>
                  <a:pt x="0" y="3000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2"/>
          <p:cNvSpPr/>
          <p:nvPr/>
        </p:nvSpPr>
        <p:spPr>
          <a:xfrm>
            <a:off x="5973054" y="4259851"/>
            <a:ext cx="24003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sz="1100" b="1" dirty="0">
                <a:solidFill>
                  <a:srgbClr val="FFFFFF"/>
                </a:solidFill>
              </a:rPr>
              <a:t>6 Delhi monitoring locations</a:t>
            </a:r>
            <a:endParaRPr lang="en-US" sz="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7278" y="928191"/>
            <a:ext cx="2867025" cy="809625"/>
          </a:xfrm>
          <a:prstGeom prst="rect">
            <a:avLst/>
          </a:prstGeom>
        </p:spPr>
      </p:pic>
      <p:pic>
        <p:nvPicPr>
          <p:cNvPr id="42" name="Picture 41" descr="dataset_snapsh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" y="1540499"/>
            <a:ext cx="4727448" cy="28124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457766" y="370992"/>
            <a:ext cx="1766887" cy="138113"/>
          </a:xfrm>
          <a:custGeom>
            <a:avLst/>
            <a:gdLst/>
            <a:ahLst/>
            <a:cxnLst/>
            <a:rect l="l" t="t" r="r" b="b"/>
            <a:pathLst>
              <a:path w="1766887" h="138113">
                <a:moveTo>
                  <a:pt x="0" y="0"/>
                </a:moveTo>
                <a:lnTo>
                  <a:pt x="1766887" y="0"/>
                </a:lnTo>
                <a:lnTo>
                  <a:pt x="1766887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57766" y="370992"/>
            <a:ext cx="176688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DATA WORKFLOW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8178" y="585857"/>
            <a:ext cx="7258050" cy="347663"/>
          </a:xfrm>
          <a:custGeom>
            <a:avLst/>
            <a:gdLst/>
            <a:ahLst/>
            <a:cxnLst/>
            <a:rect l="l" t="t" r="r" b="b"/>
            <a:pathLst>
              <a:path w="7258050" h="347663">
                <a:moveTo>
                  <a:pt x="0" y="0"/>
                </a:moveTo>
                <a:lnTo>
                  <a:pt x="7258050" y="0"/>
                </a:lnTo>
                <a:lnTo>
                  <a:pt x="725805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58178" y="585857"/>
            <a:ext cx="725805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PREPARATION &amp; ANALYTICS PROCESS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186" y="1009564"/>
            <a:ext cx="4010025" cy="195263"/>
          </a:xfrm>
          <a:custGeom>
            <a:avLst/>
            <a:gdLst/>
            <a:ahLst/>
            <a:cxnLst/>
            <a:rect l="l" t="t" r="r" b="b"/>
            <a:pathLst>
              <a:path w="4010025" h="195263">
                <a:moveTo>
                  <a:pt x="0" y="0"/>
                </a:moveTo>
                <a:lnTo>
                  <a:pt x="4010025" y="0"/>
                </a:lnTo>
                <a:lnTo>
                  <a:pt x="4010025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29603" y="12548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sz="1300" b="0" dirty="0">
                <a:solidFill>
                  <a:srgbClr val="232D37"/>
                </a:solidFill>
              </a:rPr>
              <a:t>Analyze Delhi’s 2025 air quality using Excel-based data analytics.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775774"/>
            <a:ext cx="2362200" cy="2347912"/>
          </a:xfrm>
          <a:custGeom>
            <a:avLst/>
            <a:gdLst/>
            <a:ahLst/>
            <a:cxnLst/>
            <a:rect l="l" t="t" r="r" b="b"/>
            <a:pathLst>
              <a:path w="2362200" h="2347912">
                <a:moveTo>
                  <a:pt x="44516" y="0"/>
                </a:moveTo>
                <a:lnTo>
                  <a:pt x="2317684" y="0"/>
                </a:lnTo>
                <a:quadBezTo>
                  <a:pt x="2362200" y="0"/>
                  <a:pt x="2362200" y="44516"/>
                </a:quadBezTo>
                <a:lnTo>
                  <a:pt x="2362200" y="2303396"/>
                </a:lnTo>
                <a:quadBezTo>
                  <a:pt x="2362200" y="2347912"/>
                  <a:pt x="2317684" y="2347912"/>
                </a:quadBezTo>
                <a:lnTo>
                  <a:pt x="44516" y="2347912"/>
                </a:lnTo>
                <a:quadBezTo>
                  <a:pt x="0" y="2347912"/>
                  <a:pt x="0" y="2303396"/>
                </a:quadBezTo>
                <a:lnTo>
                  <a:pt x="0" y="44516"/>
                </a:lnTo>
                <a:quadBezTo>
                  <a:pt x="0" y="0"/>
                  <a:pt x="44516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14300" dist="47625" dir="2700000" algn="bl" rotWithShape="0">
              <a:srgbClr val="1B5E20">
                <a:alpha val="7843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84188" y="192262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E8F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57225" y="1858881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3043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450" y="2056122"/>
            <a:ext cx="161925" cy="16192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7225" y="2421674"/>
            <a:ext cx="1962150" cy="400050"/>
          </a:xfrm>
          <a:custGeom>
            <a:avLst/>
            <a:gdLst/>
            <a:ahLst/>
            <a:cxnLst/>
            <a:rect l="l" t="t" r="r" b="b"/>
            <a:pathLst>
              <a:path w="1962150" h="400050">
                <a:moveTo>
                  <a:pt x="0" y="0"/>
                </a:moveTo>
                <a:lnTo>
                  <a:pt x="1962150" y="0"/>
                </a:lnTo>
                <a:lnTo>
                  <a:pt x="196215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68580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1000" b="1" dirty="0">
                <a:solidFill>
                  <a:srgbClr val="232D37"/>
                </a:solidFill>
              </a:rPr>
              <a:t>Compare locations, months, and hours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57225" y="2886473"/>
            <a:ext cx="1962150" cy="366712"/>
          </a:xfrm>
          <a:custGeom>
            <a:avLst/>
            <a:gdLst/>
            <a:ahLst/>
            <a:cxnLst/>
            <a:rect l="l" t="t" r="r" b="b"/>
            <a:pathLst>
              <a:path w="1962150" h="366712">
                <a:moveTo>
                  <a:pt x="0" y="0"/>
                </a:moveTo>
                <a:lnTo>
                  <a:pt x="1962150" y="0"/>
                </a:lnTo>
                <a:lnTo>
                  <a:pt x="1962150" y="366712"/>
                </a:lnTo>
                <a:lnTo>
                  <a:pt x="0" y="366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685800" y="25420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sz="900" b="0">
                <a:solidFill>
                  <a:srgbClr val="232D37"/>
                </a:solidFill>
              </a:rPr>
              <a:t>• Measure average AQI</a:t>
            </a:r>
            <a:br/>
            <a:r>
              <a:rPr sz="900" b="0">
                <a:solidFill>
                  <a:srgbClr val="232D37"/>
                </a:solidFill>
              </a:rPr>
              <a:t>• Compare locations</a:t>
            </a:r>
            <a:br/>
            <a:r>
              <a:rPr sz="900" b="0">
                <a:solidFill>
                  <a:srgbClr val="232D37"/>
                </a:solidFill>
              </a:rPr>
              <a:t>• Identify time trends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57225" y="3528303"/>
            <a:ext cx="1962150" cy="404813"/>
          </a:xfrm>
          <a:custGeom>
            <a:avLst/>
            <a:gdLst/>
            <a:ahLst/>
            <a:cxnLst/>
            <a:rect l="l" t="t" r="r" b="b"/>
            <a:pathLst>
              <a:path w="1962150" h="404813">
                <a:moveTo>
                  <a:pt x="0" y="0"/>
                </a:moveTo>
                <a:lnTo>
                  <a:pt x="1962150" y="0"/>
                </a:lnTo>
                <a:lnTo>
                  <a:pt x="1962150" y="404813"/>
                </a:lnTo>
                <a:lnTo>
                  <a:pt x="0" y="4048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657225" y="3528303"/>
            <a:ext cx="19621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sz="900" b="0">
                <a:solidFill>
                  <a:srgbClr val="4B5A4E"/>
                </a:solidFill>
              </a:rPr>
              <a:t>Repeatable import</a:t>
            </a:r>
            <a:endParaRPr lang="en-US" sz="9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900" y="2854465"/>
            <a:ext cx="190500" cy="1905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390900" y="1772631"/>
            <a:ext cx="2362200" cy="2347912"/>
          </a:xfrm>
          <a:custGeom>
            <a:avLst/>
            <a:gdLst/>
            <a:ahLst/>
            <a:cxnLst/>
            <a:rect l="l" t="t" r="r" b="b"/>
            <a:pathLst>
              <a:path w="2362200" h="2347912">
                <a:moveTo>
                  <a:pt x="44516" y="0"/>
                </a:moveTo>
                <a:lnTo>
                  <a:pt x="2317684" y="0"/>
                </a:lnTo>
                <a:quadBezTo>
                  <a:pt x="2362200" y="0"/>
                  <a:pt x="2362200" y="44516"/>
                </a:quadBezTo>
                <a:lnTo>
                  <a:pt x="2362200" y="2303396"/>
                </a:lnTo>
                <a:quadBezTo>
                  <a:pt x="2362200" y="2347912"/>
                  <a:pt x="2317684" y="2347912"/>
                </a:quadBezTo>
                <a:lnTo>
                  <a:pt x="44516" y="2347912"/>
                </a:lnTo>
                <a:quadBezTo>
                  <a:pt x="0" y="2347912"/>
                  <a:pt x="0" y="2303396"/>
                </a:quadBezTo>
                <a:lnTo>
                  <a:pt x="0" y="44516"/>
                </a:lnTo>
                <a:quadBezTo>
                  <a:pt x="0" y="0"/>
                  <a:pt x="44516" y="0"/>
                </a:quadBezTo>
                <a:close/>
              </a:path>
            </a:pathLst>
          </a:custGeom>
          <a:solidFill>
            <a:srgbClr val="E8F1E8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23" name="Shape 18"/>
          <p:cNvSpPr/>
          <p:nvPr/>
        </p:nvSpPr>
        <p:spPr>
          <a:xfrm>
            <a:off x="3591463" y="1916458"/>
            <a:ext cx="304800" cy="24722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r>
              <a:rPr lang="en-IN" sz="900" b="1" dirty="0"/>
              <a:t>02</a:t>
            </a:r>
            <a:endParaRPr sz="900" b="1" dirty="0"/>
          </a:p>
        </p:txBody>
      </p:sp>
      <p:sp>
        <p:nvSpPr>
          <p:cNvPr id="24" name="Text 19"/>
          <p:cNvSpPr/>
          <p:nvPr/>
        </p:nvSpPr>
        <p:spPr>
          <a:xfrm>
            <a:off x="3590925" y="1984686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3043"/>
              </a:lnSpc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150" y="2056122"/>
            <a:ext cx="161925" cy="16192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3590925" y="2422254"/>
            <a:ext cx="1962150" cy="200025"/>
          </a:xfrm>
          <a:custGeom>
            <a:avLst/>
            <a:gdLst/>
            <a:ahLst/>
            <a:cxnLst/>
            <a:rect l="l" t="t" r="r" b="b"/>
            <a:pathLst>
              <a:path w="1962150" h="200025">
                <a:moveTo>
                  <a:pt x="0" y="0"/>
                </a:moveTo>
                <a:lnTo>
                  <a:pt x="1962150" y="0"/>
                </a:lnTo>
                <a:lnTo>
                  <a:pt x="1962150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3520440" y="2148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1000" b="1" dirty="0">
                <a:solidFill>
                  <a:srgbClr val="232D37"/>
                </a:solidFill>
              </a:rPr>
              <a:t>Study weather and pollutants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590925" y="2689224"/>
            <a:ext cx="1962150" cy="728663"/>
          </a:xfrm>
          <a:custGeom>
            <a:avLst/>
            <a:gdLst/>
            <a:ahLst/>
            <a:cxnLst/>
            <a:rect l="l" t="t" r="r" b="b"/>
            <a:pathLst>
              <a:path w="1962150" h="728663">
                <a:moveTo>
                  <a:pt x="0" y="0"/>
                </a:moveTo>
                <a:lnTo>
                  <a:pt x="1962150" y="0"/>
                </a:lnTo>
                <a:lnTo>
                  <a:pt x="1962150" y="728663"/>
                </a:lnTo>
                <a:lnTo>
                  <a:pt x="0" y="728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3"/>
          <p:cNvSpPr/>
          <p:nvPr/>
        </p:nvSpPr>
        <p:spPr>
          <a:xfrm>
            <a:off x="3520440" y="25420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sz="900" b="0">
                <a:solidFill>
                  <a:srgbClr val="232D37"/>
                </a:solidFill>
              </a:rPr>
              <a:t>• Examine weather relationships</a:t>
            </a:r>
            <a:br/>
            <a:r>
              <a:rPr sz="900" b="0">
                <a:solidFill>
                  <a:srgbClr val="232D37"/>
                </a:solidFill>
              </a:rPr>
              <a:t>• Analyze PM2.5, PM10, CO &amp; NO₂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590925" y="3552797"/>
            <a:ext cx="1962150" cy="404813"/>
          </a:xfrm>
          <a:custGeom>
            <a:avLst/>
            <a:gdLst/>
            <a:ahLst/>
            <a:cxnLst/>
            <a:rect l="l" t="t" r="r" b="b"/>
            <a:pathLst>
              <a:path w="1962150" h="404813">
                <a:moveTo>
                  <a:pt x="0" y="0"/>
                </a:moveTo>
                <a:lnTo>
                  <a:pt x="1962150" y="0"/>
                </a:lnTo>
                <a:lnTo>
                  <a:pt x="1962150" y="404813"/>
                </a:lnTo>
                <a:lnTo>
                  <a:pt x="0" y="4048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5"/>
          <p:cNvSpPr/>
          <p:nvPr/>
        </p:nvSpPr>
        <p:spPr>
          <a:xfrm>
            <a:off x="3520440" y="3246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sz="900" b="0">
                <a:solidFill>
                  <a:srgbClr val="232D37"/>
                </a:solidFill>
              </a:rPr>
              <a:t>• Use AQI categories</a:t>
            </a:r>
            <a:br/>
            <a:r>
              <a:rPr sz="900" b="0">
                <a:solidFill>
                  <a:srgbClr val="232D37"/>
                </a:solidFill>
              </a:rPr>
              <a:t>• Flag high pollution</a:t>
            </a:r>
            <a:endParaRPr lang="en-US" sz="9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854465"/>
            <a:ext cx="190500" cy="19050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6324600" y="1775774"/>
            <a:ext cx="2362200" cy="2347912"/>
          </a:xfrm>
          <a:custGeom>
            <a:avLst/>
            <a:gdLst/>
            <a:ahLst/>
            <a:cxnLst/>
            <a:rect l="l" t="t" r="r" b="b"/>
            <a:pathLst>
              <a:path w="2362200" h="2347912">
                <a:moveTo>
                  <a:pt x="44516" y="0"/>
                </a:moveTo>
                <a:lnTo>
                  <a:pt x="2317684" y="0"/>
                </a:lnTo>
                <a:quadBezTo>
                  <a:pt x="2362200" y="0"/>
                  <a:pt x="2362200" y="44516"/>
                </a:quadBezTo>
                <a:lnTo>
                  <a:pt x="2362200" y="2303396"/>
                </a:lnTo>
                <a:quadBezTo>
                  <a:pt x="2362200" y="2347912"/>
                  <a:pt x="2317684" y="2347912"/>
                </a:quadBezTo>
                <a:lnTo>
                  <a:pt x="44516" y="2347912"/>
                </a:lnTo>
                <a:quadBezTo>
                  <a:pt x="0" y="2347912"/>
                  <a:pt x="0" y="2303396"/>
                </a:quadBezTo>
                <a:lnTo>
                  <a:pt x="0" y="44516"/>
                </a:lnTo>
                <a:quadBezTo>
                  <a:pt x="0" y="0"/>
                  <a:pt x="44516" y="0"/>
                </a:quadBezTo>
                <a:close/>
              </a:path>
            </a:pathLst>
          </a:custGeom>
          <a:solidFill>
            <a:schemeClr val="bg1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34" name="Shape 27"/>
          <p:cNvSpPr/>
          <p:nvPr/>
        </p:nvSpPr>
        <p:spPr>
          <a:xfrm>
            <a:off x="6524625" y="190103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chemeClr val="bg1"/>
          </a:solidFill>
          <a:ln/>
        </p:spPr>
        <p:txBody>
          <a:bodyPr/>
          <a:lstStyle/>
          <a:p>
            <a:r>
              <a:rPr lang="en-IN" sz="900" b="1" dirty="0"/>
              <a:t>03</a:t>
            </a:r>
            <a:endParaRPr sz="900" b="1" dirty="0"/>
          </a:p>
        </p:txBody>
      </p:sp>
      <p:sp>
        <p:nvSpPr>
          <p:cNvPr id="35" name="Text 28"/>
          <p:cNvSpPr/>
          <p:nvPr/>
        </p:nvSpPr>
        <p:spPr>
          <a:xfrm>
            <a:off x="6524625" y="1914363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3043"/>
              </a:lnSpc>
              <a:spcBef>
                <a:spcPts val="281"/>
              </a:spcBef>
              <a:buNone/>
            </a:pPr>
            <a:endParaRPr lang="en-US" sz="900" b="1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850" y="2056122"/>
            <a:ext cx="161925" cy="161925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6524625" y="2422254"/>
            <a:ext cx="1962150" cy="200025"/>
          </a:xfrm>
          <a:custGeom>
            <a:avLst/>
            <a:gdLst/>
            <a:ahLst/>
            <a:cxnLst/>
            <a:rect l="l" t="t" r="r" b="b"/>
            <a:pathLst>
              <a:path w="1962150" h="200025">
                <a:moveTo>
                  <a:pt x="0" y="0"/>
                </a:moveTo>
                <a:lnTo>
                  <a:pt x="1962150" y="0"/>
                </a:lnTo>
                <a:lnTo>
                  <a:pt x="1962150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0"/>
          <p:cNvSpPr/>
          <p:nvPr/>
        </p:nvSpPr>
        <p:spPr>
          <a:xfrm>
            <a:off x="6355080" y="2148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sz="1000" b="1">
                <a:solidFill>
                  <a:srgbClr val="232D37"/>
                </a:solidFill>
              </a:rPr>
              <a:t>Build an interactive dashboard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6524625" y="2688416"/>
            <a:ext cx="1962150" cy="547687"/>
          </a:xfrm>
          <a:custGeom>
            <a:avLst/>
            <a:gdLst/>
            <a:ahLst/>
            <a:cxnLst/>
            <a:rect l="l" t="t" r="r" b="b"/>
            <a:pathLst>
              <a:path w="1962150" h="547687">
                <a:moveTo>
                  <a:pt x="0" y="0"/>
                </a:moveTo>
                <a:lnTo>
                  <a:pt x="1962150" y="0"/>
                </a:lnTo>
                <a:lnTo>
                  <a:pt x="1962150" y="547687"/>
                </a:lnTo>
                <a:lnTo>
                  <a:pt x="0" y="5476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2"/>
          <p:cNvSpPr/>
          <p:nvPr/>
        </p:nvSpPr>
        <p:spPr>
          <a:xfrm>
            <a:off x="6355080" y="25420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sz="900" b="0">
                <a:solidFill>
                  <a:srgbClr val="232D37"/>
                </a:solidFill>
              </a:rPr>
              <a:t>• KPIs</a:t>
            </a:r>
            <a:br/>
            <a:r>
              <a:rPr sz="900" b="0">
                <a:solidFill>
                  <a:srgbClr val="232D37"/>
                </a:solidFill>
              </a:rPr>
              <a:t>• PivotCharts</a:t>
            </a:r>
            <a:br/>
            <a:r>
              <a:rPr sz="900" b="0">
                <a:solidFill>
                  <a:srgbClr val="232D37"/>
                </a:solidFill>
              </a:rPr>
              <a:t>• Excel slicers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6524625" y="3528303"/>
            <a:ext cx="1962150" cy="404813"/>
          </a:xfrm>
          <a:custGeom>
            <a:avLst/>
            <a:gdLst/>
            <a:ahLst/>
            <a:cxnLst/>
            <a:rect l="l" t="t" r="r" b="b"/>
            <a:pathLst>
              <a:path w="1962150" h="404813">
                <a:moveTo>
                  <a:pt x="0" y="0"/>
                </a:moveTo>
                <a:lnTo>
                  <a:pt x="1962150" y="0"/>
                </a:lnTo>
                <a:lnTo>
                  <a:pt x="1962150" y="404813"/>
                </a:lnTo>
                <a:lnTo>
                  <a:pt x="0" y="4048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34"/>
          <p:cNvSpPr/>
          <p:nvPr/>
        </p:nvSpPr>
        <p:spPr>
          <a:xfrm>
            <a:off x="6355080" y="3246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1F6926"/>
                </a:solidFill>
              </a:rPr>
              <a:t>Interactive decision support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457200" y="4352925"/>
            <a:ext cx="8229600" cy="447675"/>
          </a:xfrm>
          <a:custGeom>
            <a:avLst/>
            <a:gdLst/>
            <a:ahLst/>
            <a:cxnLst/>
            <a:rect l="l" t="t" r="r" b="b"/>
            <a:pathLst>
              <a:path w="8229600" h="447675">
                <a:moveTo>
                  <a:pt x="38912" y="0"/>
                </a:moveTo>
                <a:lnTo>
                  <a:pt x="8190688" y="0"/>
                </a:lnTo>
                <a:quadBezTo>
                  <a:pt x="8229600" y="0"/>
                  <a:pt x="8229600" y="38912"/>
                </a:quadBezTo>
                <a:lnTo>
                  <a:pt x="8229600" y="408763"/>
                </a:lnTo>
                <a:quadBezTo>
                  <a:pt x="8229600" y="447675"/>
                  <a:pt x="8190688" y="447675"/>
                </a:quadBezTo>
                <a:lnTo>
                  <a:pt x="38912" y="447675"/>
                </a:lnTo>
                <a:quadBezTo>
                  <a:pt x="0" y="447675"/>
                  <a:pt x="0" y="408763"/>
                </a:quadBezTo>
                <a:lnTo>
                  <a:pt x="0" y="38912"/>
                </a:lnTo>
                <a:quadBezTo>
                  <a:pt x="0" y="0"/>
                  <a:pt x="38912" y="0"/>
                </a:quadBezTo>
                <a:close/>
              </a:path>
            </a:pathLst>
          </a:custGeom>
          <a:solidFill>
            <a:srgbClr val="DDE8D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4500563"/>
            <a:ext cx="152400" cy="15240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895435" y="4493419"/>
            <a:ext cx="4419600" cy="166688"/>
          </a:xfrm>
          <a:custGeom>
            <a:avLst/>
            <a:gdLst/>
            <a:ahLst/>
            <a:cxnLst/>
            <a:rect l="l" t="t" r="r" b="b"/>
            <a:pathLst>
              <a:path w="4419600" h="166688">
                <a:moveTo>
                  <a:pt x="0" y="0"/>
                </a:moveTo>
                <a:lnTo>
                  <a:pt x="4419600" y="0"/>
                </a:lnTo>
                <a:lnTo>
                  <a:pt x="441960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37"/>
          <p:cNvSpPr/>
          <p:nvPr/>
        </p:nvSpPr>
        <p:spPr>
          <a:xfrm>
            <a:off x="895435" y="4493419"/>
            <a:ext cx="44196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sz="1100" b="1">
                <a:solidFill>
                  <a:srgbClr val="232D37"/>
                </a:solidFill>
              </a:rPr>
              <a:t>Result: clean, structured data ready for analysis.</a:t>
            </a:r>
            <a:endParaRPr lang="en-US" sz="90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3528303"/>
            <a:ext cx="1962150" cy="404813"/>
          </a:xfrm>
          <a:prstGeom prst="rect">
            <a:avLst/>
          </a:prstGeom>
        </p:spPr>
      </p:pic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90925" y="3552797"/>
            <a:ext cx="1962150" cy="404813"/>
          </a:xfrm>
          <a:prstGeom prst="rect">
            <a:avLst/>
          </a:prstGeom>
        </p:spPr>
      </p:pic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4625" y="3528303"/>
            <a:ext cx="1962150" cy="404813"/>
          </a:xfrm>
          <a:prstGeom prst="rect">
            <a:avLst/>
          </a:prstGeom>
        </p:spPr>
      </p:pic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352925"/>
            <a:ext cx="822960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126609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3643314" y="370992"/>
            <a:ext cx="1857375" cy="138113"/>
          </a:xfrm>
          <a:custGeom>
            <a:avLst/>
            <a:gdLst/>
            <a:ahLst/>
            <a:cxnLst/>
            <a:rect l="l" t="t" r="r" b="b"/>
            <a:pathLst>
              <a:path w="1857375" h="138113">
                <a:moveTo>
                  <a:pt x="0" y="0"/>
                </a:moveTo>
                <a:lnTo>
                  <a:pt x="1857375" y="0"/>
                </a:lnTo>
                <a:lnTo>
                  <a:pt x="185737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3643314" y="370992"/>
            <a:ext cx="18573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FRAMEWORK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855104" y="585857"/>
            <a:ext cx="3433762" cy="347663"/>
          </a:xfrm>
          <a:custGeom>
            <a:avLst/>
            <a:gdLst/>
            <a:ahLst/>
            <a:cxnLst/>
            <a:rect l="l" t="t" r="r" b="b"/>
            <a:pathLst>
              <a:path w="3433762" h="347663">
                <a:moveTo>
                  <a:pt x="0" y="0"/>
                </a:moveTo>
                <a:lnTo>
                  <a:pt x="3433762" y="0"/>
                </a:lnTo>
                <a:lnTo>
                  <a:pt x="3433762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2855104" y="585857"/>
            <a:ext cx="3433762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92177" y="1293050"/>
            <a:ext cx="457200" cy="28575"/>
          </a:xfrm>
          <a:custGeom>
            <a:avLst/>
            <a:gdLst/>
            <a:ahLst/>
            <a:cxnLst/>
            <a:rect l="l" t="t" r="r" b="b"/>
            <a:pathLst>
              <a:path w="457200" h="28575">
                <a:moveTo>
                  <a:pt x="25400" y="0"/>
                </a:moveTo>
                <a:lnTo>
                  <a:pt x="787400" y="0"/>
                </a:lnTo>
                <a:quadBezTo>
                  <a:pt x="812800" y="0"/>
                  <a:pt x="812800" y="25400"/>
                </a:quadBezTo>
                <a:lnTo>
                  <a:pt x="812800" y="25400"/>
                </a:lnTo>
                <a:quadBezTo>
                  <a:pt x="812800" y="50800"/>
                  <a:pt x="787400" y="50800"/>
                </a:quadBezTo>
                <a:lnTo>
                  <a:pt x="25400" y="50800"/>
                </a:lnTo>
                <a:quadBezTo>
                  <a:pt x="0" y="50800"/>
                  <a:pt x="0" y="25400"/>
                </a:quadBezTo>
                <a:lnTo>
                  <a:pt x="0" y="25400"/>
                </a:lnTo>
                <a:quadBezTo>
                  <a:pt x="0" y="0"/>
                  <a:pt x="25400" y="0"/>
                </a:quadBezTo>
                <a:close/>
              </a:path>
            </a:pathLst>
          </a:custGeom>
          <a:solidFill>
            <a:srgbClr val="66B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1809750" y="1659603"/>
            <a:ext cx="5524500" cy="1052512"/>
          </a:xfrm>
          <a:custGeom>
            <a:avLst/>
            <a:gdLst/>
            <a:ahLst/>
            <a:cxnLst/>
            <a:rect l="l" t="t" r="r" b="b"/>
            <a:pathLst>
              <a:path w="5524500" h="1052512">
                <a:moveTo>
                  <a:pt x="74476" y="0"/>
                </a:moveTo>
                <a:lnTo>
                  <a:pt x="5450024" y="0"/>
                </a:lnTo>
                <a:quadBezTo>
                  <a:pt x="5524500" y="0"/>
                  <a:pt x="5524500" y="74476"/>
                </a:quadBezTo>
                <a:lnTo>
                  <a:pt x="5524500" y="978037"/>
                </a:lnTo>
                <a:quadBezTo>
                  <a:pt x="5524500" y="1052512"/>
                  <a:pt x="5450024" y="1052512"/>
                </a:quadBezTo>
                <a:lnTo>
                  <a:pt x="74476" y="1052512"/>
                </a:lnTo>
                <a:quadBezTo>
                  <a:pt x="0" y="1052512"/>
                  <a:pt x="0" y="978037"/>
                </a:quadBezTo>
                <a:lnTo>
                  <a:pt x="0" y="74476"/>
                </a:lnTo>
                <a:quadBezTo>
                  <a:pt x="0" y="0"/>
                  <a:pt x="74476" y="0"/>
                </a:quadBezTo>
                <a:close/>
              </a:path>
            </a:pathLst>
          </a:custGeom>
          <a:solidFill>
            <a:srgbClr val="E8F1E8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11" name="Shape 8"/>
          <p:cNvSpPr/>
          <p:nvPr/>
        </p:nvSpPr>
        <p:spPr>
          <a:xfrm>
            <a:off x="2161946" y="1838593"/>
            <a:ext cx="4867275" cy="133350"/>
          </a:xfrm>
          <a:custGeom>
            <a:avLst/>
            <a:gdLst/>
            <a:ahLst/>
            <a:cxnLst/>
            <a:rect l="l" t="t" r="r" b="b"/>
            <a:pathLst>
              <a:path w="4867275" h="133350">
                <a:moveTo>
                  <a:pt x="0" y="0"/>
                </a:moveTo>
                <a:lnTo>
                  <a:pt x="4867275" y="0"/>
                </a:lnTo>
                <a:lnTo>
                  <a:pt x="486727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2161946" y="1838593"/>
            <a:ext cx="4867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F3A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 OBJECTIVE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161946" y="2046911"/>
            <a:ext cx="4867275" cy="476250"/>
          </a:xfrm>
          <a:custGeom>
            <a:avLst/>
            <a:gdLst/>
            <a:ahLst/>
            <a:cxnLst/>
            <a:rect l="l" t="t" r="r" b="b"/>
            <a:pathLst>
              <a:path w="4867275" h="476250">
                <a:moveTo>
                  <a:pt x="0" y="0"/>
                </a:moveTo>
                <a:lnTo>
                  <a:pt x="4867275" y="0"/>
                </a:lnTo>
                <a:lnTo>
                  <a:pt x="4867275" y="47625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2161946" y="2046911"/>
            <a:ext cx="48672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522"/>
              </a:lnSpc>
              <a:spcBef>
                <a:spcPts val="281"/>
              </a:spcBef>
              <a:buNone/>
            </a:pPr>
            <a:r>
              <a:t>Analyze Delhi’s 2025 air-quality patterns to identify when, where, and under which conditions pollution levels change.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00250" y="2969263"/>
            <a:ext cx="5143500" cy="514350"/>
          </a:xfrm>
          <a:custGeom>
            <a:avLst/>
            <a:gdLst/>
            <a:ahLst/>
            <a:cxnLst/>
            <a:rect l="l" t="t" r="r" b="b"/>
            <a:pathLst>
              <a:path w="5143500" h="514350">
                <a:moveTo>
                  <a:pt x="118532" y="0"/>
                </a:moveTo>
                <a:lnTo>
                  <a:pt x="5024968" y="0"/>
                </a:lnTo>
                <a:quadBezTo>
                  <a:pt x="5143500" y="0"/>
                  <a:pt x="5143500" y="118532"/>
                </a:quadBezTo>
                <a:lnTo>
                  <a:pt x="5143500" y="395818"/>
                </a:lnTo>
                <a:quadBezTo>
                  <a:pt x="5143500" y="514350"/>
                  <a:pt x="5024968" y="514350"/>
                </a:quadBezTo>
                <a:lnTo>
                  <a:pt x="118532" y="514350"/>
                </a:lnTo>
                <a:quadBezTo>
                  <a:pt x="0" y="514350"/>
                  <a:pt x="0" y="395818"/>
                </a:quadBezTo>
                <a:lnTo>
                  <a:pt x="0" y="118532"/>
                </a:lnTo>
                <a:quadBezTo>
                  <a:pt x="0" y="0"/>
                  <a:pt x="118532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2047875" y="3088311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138113"/>
                </a:moveTo>
                <a:cubicBezTo>
                  <a:pt x="0" y="214390"/>
                  <a:pt x="61835" y="276225"/>
                  <a:pt x="138113" y="276225"/>
                </a:cubicBezTo>
                <a:cubicBezTo>
                  <a:pt x="214390" y="276225"/>
                  <a:pt x="276225" y="214390"/>
                  <a:pt x="276225" y="138113"/>
                </a:cubicBezTo>
                <a:cubicBezTo>
                  <a:pt x="276225" y="61835"/>
                  <a:pt x="214390" y="0"/>
                  <a:pt x="138113" y="0"/>
                </a:cubicBezTo>
                <a:cubicBezTo>
                  <a:pt x="61835" y="0"/>
                  <a:pt x="0" y="61835"/>
                  <a:pt x="0" y="138112"/>
                </a:cubicBezTo>
                <a:close/>
              </a:path>
            </a:pathLst>
          </a:custGeom>
          <a:solidFill>
            <a:srgbClr val="1B5E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2047875" y="3088311"/>
            <a:ext cx="276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457663" y="3055102"/>
            <a:ext cx="3486150" cy="166688"/>
          </a:xfrm>
          <a:custGeom>
            <a:avLst/>
            <a:gdLst/>
            <a:ahLst/>
            <a:cxnLst/>
            <a:rect l="l" t="t" r="r" b="b"/>
            <a:pathLst>
              <a:path w="3486150" h="166688">
                <a:moveTo>
                  <a:pt x="0" y="0"/>
                </a:moveTo>
                <a:lnTo>
                  <a:pt x="3486150" y="0"/>
                </a:lnTo>
                <a:lnTo>
                  <a:pt x="348615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2457663" y="3055102"/>
            <a:ext cx="348615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locations, months, and hours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457663" y="3253948"/>
            <a:ext cx="3486150" cy="142875"/>
          </a:xfrm>
          <a:custGeom>
            <a:avLst/>
            <a:gdLst/>
            <a:ahLst/>
            <a:cxnLst/>
            <a:rect l="l" t="t" r="r" b="b"/>
            <a:pathLst>
              <a:path w="3486150" h="142875">
                <a:moveTo>
                  <a:pt x="0" y="0"/>
                </a:moveTo>
                <a:lnTo>
                  <a:pt x="3486150" y="0"/>
                </a:lnTo>
                <a:lnTo>
                  <a:pt x="348615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2457663" y="3253948"/>
            <a:ext cx="3486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dirty="0"/>
              <a:t>Compare average AQI across monitoring locations, months, and hours.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000250" y="3624136"/>
            <a:ext cx="5143500" cy="568080"/>
          </a:xfrm>
          <a:custGeom>
            <a:avLst/>
            <a:gdLst/>
            <a:ahLst/>
            <a:cxnLst/>
            <a:rect l="l" t="t" r="r" b="b"/>
            <a:pathLst>
              <a:path w="5143500" h="514350">
                <a:moveTo>
                  <a:pt x="118532" y="0"/>
                </a:moveTo>
                <a:lnTo>
                  <a:pt x="5024968" y="0"/>
                </a:lnTo>
                <a:quadBezTo>
                  <a:pt x="5143500" y="0"/>
                  <a:pt x="5143500" y="118532"/>
                </a:quadBezTo>
                <a:lnTo>
                  <a:pt x="5143500" y="395818"/>
                </a:lnTo>
                <a:quadBezTo>
                  <a:pt x="5143500" y="514350"/>
                  <a:pt x="5024968" y="514350"/>
                </a:quadBezTo>
                <a:lnTo>
                  <a:pt x="118532" y="514350"/>
                </a:lnTo>
                <a:quadBezTo>
                  <a:pt x="0" y="514350"/>
                  <a:pt x="0" y="395818"/>
                </a:quadBezTo>
                <a:lnTo>
                  <a:pt x="0" y="118532"/>
                </a:lnTo>
                <a:quadBezTo>
                  <a:pt x="0" y="0"/>
                  <a:pt x="118532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2047875" y="3743183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138113"/>
                </a:moveTo>
                <a:cubicBezTo>
                  <a:pt x="0" y="214390"/>
                  <a:pt x="61835" y="276225"/>
                  <a:pt x="138113" y="276225"/>
                </a:cubicBezTo>
                <a:cubicBezTo>
                  <a:pt x="214390" y="276225"/>
                  <a:pt x="276225" y="214390"/>
                  <a:pt x="276225" y="138113"/>
                </a:cubicBezTo>
                <a:cubicBezTo>
                  <a:pt x="276225" y="61835"/>
                  <a:pt x="214390" y="0"/>
                  <a:pt x="138113" y="0"/>
                </a:cubicBezTo>
                <a:cubicBezTo>
                  <a:pt x="61835" y="0"/>
                  <a:pt x="0" y="61835"/>
                  <a:pt x="0" y="138112"/>
                </a:cubicBezTo>
                <a:close/>
              </a:path>
            </a:pathLst>
          </a:custGeom>
          <a:solidFill>
            <a:srgbClr val="43A04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2047875" y="3743183"/>
            <a:ext cx="276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457947" y="3709974"/>
            <a:ext cx="3657600" cy="166688"/>
          </a:xfrm>
          <a:custGeom>
            <a:avLst/>
            <a:gdLst/>
            <a:ahLst/>
            <a:cxnLst/>
            <a:rect l="l" t="t" r="r" b="b"/>
            <a:pathLst>
              <a:path w="3657600" h="166688">
                <a:moveTo>
                  <a:pt x="0" y="0"/>
                </a:moveTo>
                <a:lnTo>
                  <a:pt x="3657600" y="0"/>
                </a:lnTo>
                <a:lnTo>
                  <a:pt x="365760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2457947" y="3709974"/>
            <a:ext cx="36576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Study weather and pollutant relationships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457947" y="3908823"/>
            <a:ext cx="3657600" cy="142875"/>
          </a:xfrm>
          <a:custGeom>
            <a:avLst/>
            <a:gdLst/>
            <a:ahLst/>
            <a:cxnLst/>
            <a:rect l="l" t="t" r="r" b="b"/>
            <a:pathLst>
              <a:path w="3657600" h="142875">
                <a:moveTo>
                  <a:pt x="0" y="0"/>
                </a:moveTo>
                <a:lnTo>
                  <a:pt x="3657600" y="0"/>
                </a:lnTo>
                <a:lnTo>
                  <a:pt x="36576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2495550" y="3824663"/>
            <a:ext cx="3657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dirty="0"/>
              <a:t>Examine AQI patterns</a:t>
            </a:r>
            <a:r>
              <a:rPr lang="en-IN" dirty="0"/>
              <a:t> </a:t>
            </a:r>
            <a:r>
              <a:rPr dirty="0"/>
              <a:t>under different weather conditions and pollutant levels.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000250" y="4219935"/>
            <a:ext cx="5143500" cy="923565"/>
          </a:xfrm>
          <a:custGeom>
            <a:avLst/>
            <a:gdLst/>
            <a:ahLst/>
            <a:cxnLst/>
            <a:rect l="l" t="t" r="r" b="b"/>
            <a:pathLst>
              <a:path w="5143500" h="514350">
                <a:moveTo>
                  <a:pt x="118532" y="0"/>
                </a:moveTo>
                <a:lnTo>
                  <a:pt x="5024968" y="0"/>
                </a:lnTo>
                <a:quadBezTo>
                  <a:pt x="5143500" y="0"/>
                  <a:pt x="5143500" y="118532"/>
                </a:quadBezTo>
                <a:lnTo>
                  <a:pt x="5143500" y="395818"/>
                </a:lnTo>
                <a:quadBezTo>
                  <a:pt x="5143500" y="514350"/>
                  <a:pt x="5024968" y="514350"/>
                </a:quadBezTo>
                <a:lnTo>
                  <a:pt x="118532" y="514350"/>
                </a:lnTo>
                <a:quadBezTo>
                  <a:pt x="0" y="514350"/>
                  <a:pt x="0" y="395818"/>
                </a:quadBezTo>
                <a:lnTo>
                  <a:pt x="0" y="118532"/>
                </a:lnTo>
                <a:quadBezTo>
                  <a:pt x="0" y="0"/>
                  <a:pt x="118532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7"/>
          <p:cNvSpPr/>
          <p:nvPr/>
        </p:nvSpPr>
        <p:spPr>
          <a:xfrm>
            <a:off x="2047875" y="4398054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138113"/>
                </a:moveTo>
                <a:cubicBezTo>
                  <a:pt x="0" y="214390"/>
                  <a:pt x="61835" y="276225"/>
                  <a:pt x="138113" y="276225"/>
                </a:cubicBezTo>
                <a:cubicBezTo>
                  <a:pt x="214390" y="276225"/>
                  <a:pt x="276225" y="214390"/>
                  <a:pt x="276225" y="138113"/>
                </a:cubicBezTo>
                <a:cubicBezTo>
                  <a:pt x="276225" y="61835"/>
                  <a:pt x="214390" y="0"/>
                  <a:pt x="138113" y="0"/>
                </a:cubicBezTo>
                <a:cubicBezTo>
                  <a:pt x="61835" y="0"/>
                  <a:pt x="0" y="61835"/>
                  <a:pt x="0" y="138112"/>
                </a:cubicBezTo>
                <a:close/>
              </a:path>
            </a:pathLst>
          </a:custGeom>
          <a:solidFill>
            <a:srgbClr val="66B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2047875" y="4398054"/>
            <a:ext cx="276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458627" y="4364845"/>
            <a:ext cx="3467100" cy="166688"/>
          </a:xfrm>
          <a:custGeom>
            <a:avLst/>
            <a:gdLst/>
            <a:ahLst/>
            <a:cxnLst/>
            <a:rect l="l" t="t" r="r" b="b"/>
            <a:pathLst>
              <a:path w="3467100" h="166688">
                <a:moveTo>
                  <a:pt x="0" y="0"/>
                </a:moveTo>
                <a:lnTo>
                  <a:pt x="3467100" y="0"/>
                </a:lnTo>
                <a:lnTo>
                  <a:pt x="346710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2458627" y="4364845"/>
            <a:ext cx="34671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 interactive decision-support dashboard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458627" y="4563694"/>
            <a:ext cx="3467100" cy="142875"/>
          </a:xfrm>
          <a:custGeom>
            <a:avLst/>
            <a:gdLst/>
            <a:ahLst/>
            <a:cxnLst/>
            <a:rect l="l" t="t" r="r" b="b"/>
            <a:pathLst>
              <a:path w="3467100" h="142875">
                <a:moveTo>
                  <a:pt x="0" y="0"/>
                </a:moveTo>
                <a:lnTo>
                  <a:pt x="3467100" y="0"/>
                </a:lnTo>
                <a:lnTo>
                  <a:pt x="3467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2458627" y="4563694"/>
            <a:ext cx="3467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t>Build an interactive Excel dashboard using KPIs, PivotCharts, and slicers.</a:t>
            </a:r>
            <a:endParaRPr lang="en-US" sz="9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659602"/>
            <a:ext cx="5524500" cy="12549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419100" y="342417"/>
            <a:ext cx="8305800" cy="138113"/>
          </a:xfrm>
          <a:custGeom>
            <a:avLst/>
            <a:gdLst/>
            <a:ahLst/>
            <a:cxnLst/>
            <a:rect l="l" t="t" r="r" b="b"/>
            <a:pathLst>
              <a:path w="8305800" h="138113">
                <a:moveTo>
                  <a:pt x="0" y="0"/>
                </a:moveTo>
                <a:lnTo>
                  <a:pt x="8305800" y="0"/>
                </a:lnTo>
                <a:lnTo>
                  <a:pt x="83058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19100" y="342417"/>
            <a:ext cx="83058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ANALYTICS SHOWCASE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19100" y="547006"/>
            <a:ext cx="8305800" cy="328613"/>
          </a:xfrm>
          <a:custGeom>
            <a:avLst/>
            <a:gdLst/>
            <a:ahLst/>
            <a:cxnLst/>
            <a:rect l="l" t="t" r="r" b="b"/>
            <a:pathLst>
              <a:path w="8305800" h="328613">
                <a:moveTo>
                  <a:pt x="0" y="0"/>
                </a:moveTo>
                <a:lnTo>
                  <a:pt x="8305800" y="0"/>
                </a:lnTo>
                <a:lnTo>
                  <a:pt x="8305800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19100" y="547006"/>
            <a:ext cx="83058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AIR QUALITY DASHBOARD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9100" y="942577"/>
            <a:ext cx="5619750" cy="385763"/>
          </a:xfrm>
          <a:custGeom>
            <a:avLst/>
            <a:gdLst/>
            <a:ahLst/>
            <a:cxnLst/>
            <a:rect l="l" t="t" r="r" b="b"/>
            <a:pathLst>
              <a:path w="5619750" h="385763">
                <a:moveTo>
                  <a:pt x="0" y="0"/>
                </a:moveTo>
                <a:lnTo>
                  <a:pt x="5619750" y="0"/>
                </a:lnTo>
                <a:lnTo>
                  <a:pt x="56197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19100" y="942577"/>
            <a:ext cx="5619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sz="1600"/>
              <a:t>Interactive Excel dashboard for AQI, pollutants, trends, locations, weather, and filters.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9100" y="1852413"/>
            <a:ext cx="5838825" cy="2986088"/>
          </a:xfrm>
          <a:custGeom>
            <a:avLst/>
            <a:gdLst/>
            <a:ahLst/>
            <a:cxnLst/>
            <a:rect l="l" t="t" r="r" b="b"/>
            <a:pathLst>
              <a:path w="5838825" h="2986088">
                <a:moveTo>
                  <a:pt x="34997" y="0"/>
                </a:moveTo>
                <a:lnTo>
                  <a:pt x="5803828" y="0"/>
                </a:lnTo>
                <a:quadBezTo>
                  <a:pt x="5838825" y="0"/>
                  <a:pt x="5838825" y="34997"/>
                </a:quadBezTo>
                <a:lnTo>
                  <a:pt x="5838825" y="2951091"/>
                </a:lnTo>
                <a:quadBezTo>
                  <a:pt x="5838825" y="2986088"/>
                  <a:pt x="5803828" y="2986088"/>
                </a:quadBezTo>
                <a:lnTo>
                  <a:pt x="34997" y="2986088"/>
                </a:lnTo>
                <a:quadBezTo>
                  <a:pt x="0" y="2986088"/>
                  <a:pt x="0" y="2951091"/>
                </a:quadBezTo>
                <a:lnTo>
                  <a:pt x="0" y="34997"/>
                </a:lnTo>
                <a:quadBezTo>
                  <a:pt x="0" y="0"/>
                  <a:pt x="34997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33350" dist="57150" dir="2700000" algn="bl" rotWithShape="0">
              <a:srgbClr val="1F2933">
                <a:alpha val="7843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037952"/>
            <a:ext cx="142875" cy="14287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00157" y="2028429"/>
            <a:ext cx="1957388" cy="161925"/>
          </a:xfrm>
          <a:custGeom>
            <a:avLst/>
            <a:gdLst/>
            <a:ahLst/>
            <a:cxnLst/>
            <a:rect l="l" t="t" r="r" b="b"/>
            <a:pathLst>
              <a:path w="1957388" h="161925">
                <a:moveTo>
                  <a:pt x="0" y="0"/>
                </a:moveTo>
                <a:lnTo>
                  <a:pt x="1957388" y="0"/>
                </a:lnTo>
                <a:lnTo>
                  <a:pt x="1957388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800157" y="2028429"/>
            <a:ext cx="19573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sz="1200" b="1">
                <a:solidFill>
                  <a:srgbClr val="232D37"/>
                </a:solidFill>
              </a:rPr>
              <a:t>FINAL EXCEL DASHBOARD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854077" y="2004615"/>
            <a:ext cx="1233488" cy="209550"/>
          </a:xfrm>
          <a:custGeom>
            <a:avLst/>
            <a:gdLst/>
            <a:ahLst/>
            <a:cxnLst/>
            <a:rect l="l" t="t" r="r" b="b"/>
            <a:pathLst>
              <a:path w="1233488" h="209550">
                <a:moveTo>
                  <a:pt x="104775" y="0"/>
                </a:moveTo>
                <a:lnTo>
                  <a:pt x="1128713" y="0"/>
                </a:lnTo>
                <a:quadBezTo>
                  <a:pt x="1233488" y="0"/>
                  <a:pt x="1233488" y="104775"/>
                </a:quadBezTo>
                <a:lnTo>
                  <a:pt x="1233488" y="104775"/>
                </a:lnTo>
                <a:quadBezTo>
                  <a:pt x="1233488" y="209550"/>
                  <a:pt x="1128713" y="209550"/>
                </a:quadBezTo>
                <a:lnTo>
                  <a:pt x="104775" y="209550"/>
                </a:lnTo>
                <a:quadBezTo>
                  <a:pt x="0" y="209550"/>
                  <a:pt x="0" y="104775"/>
                </a:quadBezTo>
                <a:lnTo>
                  <a:pt x="0" y="104775"/>
                </a:lnTo>
                <a:quadBezTo>
                  <a:pt x="0" y="0"/>
                  <a:pt x="104775" y="0"/>
                </a:quadBezTo>
                <a:close/>
              </a:path>
            </a:pathLst>
          </a:custGeom>
          <a:solidFill>
            <a:srgbClr val="E8F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4854077" y="2004615"/>
            <a:ext cx="12334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sz="900" b="1">
                <a:solidFill>
                  <a:srgbClr val="1F6926"/>
                </a:solidFill>
              </a:rPr>
              <a:t>Excel dashboard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486525" y="1851732"/>
            <a:ext cx="2238375" cy="138113"/>
          </a:xfrm>
          <a:custGeom>
            <a:avLst/>
            <a:gdLst/>
            <a:ahLst/>
            <a:cxnLst/>
            <a:rect l="l" t="t" r="r" b="b"/>
            <a:pathLst>
              <a:path w="2238375" h="138113">
                <a:moveTo>
                  <a:pt x="0" y="0"/>
                </a:moveTo>
                <a:lnTo>
                  <a:pt x="2238375" y="0"/>
                </a:lnTo>
                <a:lnTo>
                  <a:pt x="223837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4"/>
          <p:cNvSpPr/>
          <p:nvPr/>
        </p:nvSpPr>
        <p:spPr>
          <a:xfrm>
            <a:off x="6486525" y="1851732"/>
            <a:ext cx="22383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6D8B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SIGNALS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486525" y="2095160"/>
            <a:ext cx="2238375" cy="842963"/>
          </a:xfrm>
          <a:custGeom>
            <a:avLst/>
            <a:gdLst/>
            <a:ahLst/>
            <a:cxnLst/>
            <a:rect l="l" t="t" r="r" b="b"/>
            <a:pathLst>
              <a:path w="2238375" h="842963">
                <a:moveTo>
                  <a:pt x="113657" y="0"/>
                </a:moveTo>
                <a:lnTo>
                  <a:pt x="2124718" y="0"/>
                </a:lnTo>
                <a:quadBezTo>
                  <a:pt x="2238375" y="0"/>
                  <a:pt x="2238375" y="113657"/>
                </a:quadBezTo>
                <a:lnTo>
                  <a:pt x="2238375" y="729306"/>
                </a:lnTo>
                <a:quadBezTo>
                  <a:pt x="2238375" y="842963"/>
                  <a:pt x="2124718" y="842963"/>
                </a:quadBezTo>
                <a:lnTo>
                  <a:pt x="113657" y="842963"/>
                </a:lnTo>
                <a:quadBezTo>
                  <a:pt x="0" y="842963"/>
                  <a:pt x="0" y="729306"/>
                </a:quadBezTo>
                <a:lnTo>
                  <a:pt x="0" y="113657"/>
                </a:lnTo>
                <a:quadBezTo>
                  <a:pt x="0" y="0"/>
                  <a:pt x="113657" y="0"/>
                </a:quadBezTo>
                <a:close/>
              </a:path>
            </a:pathLst>
          </a:custGeom>
          <a:solidFill>
            <a:srgbClr val="1B5E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6648450" y="2101141"/>
            <a:ext cx="1914525" cy="138113"/>
          </a:xfrm>
          <a:custGeom>
            <a:avLst/>
            <a:gdLst/>
            <a:ahLst/>
            <a:cxnLst/>
            <a:rect l="l" t="t" r="r" b="b"/>
            <a:pathLst>
              <a:path w="1914525" h="138113">
                <a:moveTo>
                  <a:pt x="0" y="0"/>
                </a:moveTo>
                <a:lnTo>
                  <a:pt x="1914525" y="0"/>
                </a:lnTo>
                <a:lnTo>
                  <a:pt x="19145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7"/>
          <p:cNvSpPr/>
          <p:nvPr/>
        </p:nvSpPr>
        <p:spPr>
          <a:xfrm>
            <a:off x="6648450" y="2101141"/>
            <a:ext cx="19145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C8E6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measure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648450" y="2295200"/>
            <a:ext cx="1914525" cy="271463"/>
          </a:xfrm>
          <a:custGeom>
            <a:avLst/>
            <a:gdLst/>
            <a:ahLst/>
            <a:cxnLst/>
            <a:rect l="l" t="t" r="r" b="b"/>
            <a:pathLst>
              <a:path w="1914525" h="271463">
                <a:moveTo>
                  <a:pt x="0" y="0"/>
                </a:moveTo>
                <a:lnTo>
                  <a:pt x="1914525" y="0"/>
                </a:lnTo>
                <a:lnTo>
                  <a:pt x="1914525" y="271463"/>
                </a:lnTo>
                <a:lnTo>
                  <a:pt x="0" y="2714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9"/>
          <p:cNvSpPr/>
          <p:nvPr/>
        </p:nvSpPr>
        <p:spPr>
          <a:xfrm>
            <a:off x="6648450" y="2295200"/>
            <a:ext cx="191452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174"/>
              </a:lnSpc>
              <a:spcBef>
                <a:spcPts val="281"/>
              </a:spcBef>
              <a:buNone/>
            </a:pPr>
            <a:r>
              <a:rPr lang="en-US" sz="200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AQI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648450" y="2622607"/>
            <a:ext cx="1914525" cy="309562"/>
          </a:xfrm>
          <a:custGeom>
            <a:avLst/>
            <a:gdLst/>
            <a:ahLst/>
            <a:cxnLst/>
            <a:rect l="l" t="t" r="r" b="b"/>
            <a:pathLst>
              <a:path w="1914525" h="309562">
                <a:moveTo>
                  <a:pt x="0" y="0"/>
                </a:moveTo>
                <a:lnTo>
                  <a:pt x="1914525" y="0"/>
                </a:lnTo>
                <a:lnTo>
                  <a:pt x="1914525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6648450" y="2622607"/>
            <a:ext cx="191452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900" b="0">
                <a:solidFill>
                  <a:srgbClr val="FFFFFF"/>
                </a:solidFill>
              </a:rPr>
              <a:t>AQI summary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486525" y="3044938"/>
            <a:ext cx="2238375" cy="842963"/>
          </a:xfrm>
          <a:custGeom>
            <a:avLst/>
            <a:gdLst/>
            <a:ahLst/>
            <a:cxnLst/>
            <a:rect l="l" t="t" r="r" b="b"/>
            <a:pathLst>
              <a:path w="2238375" h="842963">
                <a:moveTo>
                  <a:pt x="113657" y="0"/>
                </a:moveTo>
                <a:lnTo>
                  <a:pt x="2124718" y="0"/>
                </a:lnTo>
                <a:quadBezTo>
                  <a:pt x="2238375" y="0"/>
                  <a:pt x="2238375" y="113657"/>
                </a:quadBezTo>
                <a:lnTo>
                  <a:pt x="2238375" y="729306"/>
                </a:lnTo>
                <a:quadBezTo>
                  <a:pt x="2238375" y="842963"/>
                  <a:pt x="2124718" y="842963"/>
                </a:quadBezTo>
                <a:lnTo>
                  <a:pt x="113657" y="842963"/>
                </a:lnTo>
                <a:quadBezTo>
                  <a:pt x="0" y="842963"/>
                  <a:pt x="0" y="729306"/>
                </a:quadBezTo>
                <a:lnTo>
                  <a:pt x="0" y="113657"/>
                </a:lnTo>
                <a:quadBezTo>
                  <a:pt x="0" y="0"/>
                  <a:pt x="113657" y="0"/>
                </a:quadBezTo>
                <a:close/>
              </a:path>
            </a:pathLst>
          </a:custGeom>
          <a:solidFill>
            <a:srgbClr val="E8F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3"/>
          <p:cNvSpPr/>
          <p:nvPr/>
        </p:nvSpPr>
        <p:spPr>
          <a:xfrm>
            <a:off x="6648450" y="3064881"/>
            <a:ext cx="1914525" cy="133350"/>
          </a:xfrm>
          <a:custGeom>
            <a:avLst/>
            <a:gdLst/>
            <a:ahLst/>
            <a:cxnLst/>
            <a:rect l="l" t="t" r="r" b="b"/>
            <a:pathLst>
              <a:path w="1914525" h="133350">
                <a:moveTo>
                  <a:pt x="0" y="0"/>
                </a:moveTo>
                <a:lnTo>
                  <a:pt x="1914525" y="0"/>
                </a:lnTo>
                <a:lnTo>
                  <a:pt x="191452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4"/>
          <p:cNvSpPr/>
          <p:nvPr/>
        </p:nvSpPr>
        <p:spPr>
          <a:xfrm>
            <a:off x="6648450" y="3064881"/>
            <a:ext cx="19145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F3A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Pollutant lens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648450" y="3255565"/>
            <a:ext cx="1914525" cy="257175"/>
          </a:xfrm>
          <a:custGeom>
            <a:avLst/>
            <a:gdLst/>
            <a:ahLst/>
            <a:cxnLst/>
            <a:rect l="l" t="t" r="r" b="b"/>
            <a:pathLst>
              <a:path w="1914525" h="257175">
                <a:moveTo>
                  <a:pt x="0" y="0"/>
                </a:moveTo>
                <a:lnTo>
                  <a:pt x="1914525" y="0"/>
                </a:lnTo>
                <a:lnTo>
                  <a:pt x="1914525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6"/>
          <p:cNvSpPr/>
          <p:nvPr/>
        </p:nvSpPr>
        <p:spPr>
          <a:xfrm>
            <a:off x="6648450" y="3255565"/>
            <a:ext cx="1914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1901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PM2.5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648450" y="3571392"/>
            <a:ext cx="1914525" cy="295275"/>
          </a:xfrm>
          <a:custGeom>
            <a:avLst/>
            <a:gdLst/>
            <a:ahLst/>
            <a:cxnLst/>
            <a:rect l="l" t="t" r="r" b="b"/>
            <a:pathLst>
              <a:path w="1914525" h="295275">
                <a:moveTo>
                  <a:pt x="0" y="0"/>
                </a:moveTo>
                <a:lnTo>
                  <a:pt x="1914525" y="0"/>
                </a:lnTo>
                <a:lnTo>
                  <a:pt x="1914525" y="295275"/>
                </a:lnTo>
                <a:lnTo>
                  <a:pt x="0" y="2952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28"/>
          <p:cNvSpPr/>
          <p:nvPr/>
        </p:nvSpPr>
        <p:spPr>
          <a:xfrm>
            <a:off x="6648450" y="3571392"/>
            <a:ext cx="19145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sz="900" b="0">
                <a:solidFill>
                  <a:srgbClr val="4B5A4E"/>
                </a:solidFill>
              </a:rPr>
              <a:t>Pollutant trend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486525" y="3994716"/>
            <a:ext cx="2238375" cy="842963"/>
          </a:xfrm>
          <a:custGeom>
            <a:avLst/>
            <a:gdLst/>
            <a:ahLst/>
            <a:cxnLst/>
            <a:rect l="l" t="t" r="r" b="b"/>
            <a:pathLst>
              <a:path w="2238375" h="842963">
                <a:moveTo>
                  <a:pt x="113657" y="0"/>
                </a:moveTo>
                <a:lnTo>
                  <a:pt x="2124718" y="0"/>
                </a:lnTo>
                <a:quadBezTo>
                  <a:pt x="2238375" y="0"/>
                  <a:pt x="2238375" y="113657"/>
                </a:quadBezTo>
                <a:lnTo>
                  <a:pt x="2238375" y="729306"/>
                </a:lnTo>
                <a:quadBezTo>
                  <a:pt x="2238375" y="842963"/>
                  <a:pt x="2124718" y="842963"/>
                </a:quadBezTo>
                <a:lnTo>
                  <a:pt x="113657" y="842963"/>
                </a:lnTo>
                <a:quadBezTo>
                  <a:pt x="0" y="842963"/>
                  <a:pt x="0" y="729306"/>
                </a:quadBezTo>
                <a:lnTo>
                  <a:pt x="0" y="113657"/>
                </a:lnTo>
                <a:quadBezTo>
                  <a:pt x="0" y="0"/>
                  <a:pt x="113657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95250" dist="38100" dir="2700000" algn="bl" rotWithShape="0">
              <a:srgbClr val="1F2933">
                <a:alpha val="5882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0"/>
          <p:cNvSpPr/>
          <p:nvPr/>
        </p:nvSpPr>
        <p:spPr>
          <a:xfrm>
            <a:off x="6648450" y="4000698"/>
            <a:ext cx="1914525" cy="138113"/>
          </a:xfrm>
          <a:custGeom>
            <a:avLst/>
            <a:gdLst/>
            <a:ahLst/>
            <a:cxnLst/>
            <a:rect l="l" t="t" r="r" b="b"/>
            <a:pathLst>
              <a:path w="1914525" h="138113">
                <a:moveTo>
                  <a:pt x="0" y="0"/>
                </a:moveTo>
                <a:lnTo>
                  <a:pt x="1914525" y="0"/>
                </a:lnTo>
                <a:lnTo>
                  <a:pt x="19145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1"/>
          <p:cNvSpPr/>
          <p:nvPr/>
        </p:nvSpPr>
        <p:spPr>
          <a:xfrm>
            <a:off x="6648450" y="4000698"/>
            <a:ext cx="19145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3A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control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648450" y="4194755"/>
            <a:ext cx="1914525" cy="271463"/>
          </a:xfrm>
          <a:custGeom>
            <a:avLst/>
            <a:gdLst/>
            <a:ahLst/>
            <a:cxnLst/>
            <a:rect l="l" t="t" r="r" b="b"/>
            <a:pathLst>
              <a:path w="1914525" h="271463">
                <a:moveTo>
                  <a:pt x="0" y="0"/>
                </a:moveTo>
                <a:lnTo>
                  <a:pt x="1914525" y="0"/>
                </a:lnTo>
                <a:lnTo>
                  <a:pt x="1914525" y="271463"/>
                </a:lnTo>
                <a:lnTo>
                  <a:pt x="0" y="2714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3"/>
          <p:cNvSpPr/>
          <p:nvPr/>
        </p:nvSpPr>
        <p:spPr>
          <a:xfrm>
            <a:off x="6648450" y="4194755"/>
            <a:ext cx="191452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174"/>
              </a:lnSpc>
              <a:spcBef>
                <a:spcPts val="281"/>
              </a:spcBef>
              <a:buNone/>
            </a:pPr>
            <a:r>
              <a:rPr lang="en-US" sz="2003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SLICERS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648450" y="4522163"/>
            <a:ext cx="1914525" cy="309562"/>
          </a:xfrm>
          <a:custGeom>
            <a:avLst/>
            <a:gdLst/>
            <a:ahLst/>
            <a:cxnLst/>
            <a:rect l="l" t="t" r="r" b="b"/>
            <a:pathLst>
              <a:path w="1914525" h="309562">
                <a:moveTo>
                  <a:pt x="0" y="0"/>
                </a:moveTo>
                <a:lnTo>
                  <a:pt x="1914525" y="0"/>
                </a:lnTo>
                <a:lnTo>
                  <a:pt x="1914525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5"/>
          <p:cNvSpPr/>
          <p:nvPr/>
        </p:nvSpPr>
        <p:spPr>
          <a:xfrm>
            <a:off x="6648450" y="4522163"/>
            <a:ext cx="191452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900" b="0">
                <a:solidFill>
                  <a:srgbClr val="232D37"/>
                </a:solidFill>
              </a:rPr>
              <a:t>Filter by month, location, weather, and AQI category.</a:t>
            </a:r>
            <a:endParaRPr lang="en-US" sz="900" dirty="0"/>
          </a:p>
        </p:txBody>
      </p:sp>
      <p:pic>
        <p:nvPicPr>
          <p:cNvPr id="41" name="Picture 40" descr="Screenshot 2026-09-15 1859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22576"/>
            <a:ext cx="5568696" cy="2386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7F5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70992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70992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 QUALITY MONITORING SYSTEM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76334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76334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PERFORMANCE INDICATORS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990515"/>
            <a:ext cx="8229600" cy="195263"/>
          </a:xfrm>
          <a:custGeom>
            <a:avLst/>
            <a:gdLst/>
            <a:ahLst/>
            <a:cxnLst/>
            <a:rect l="l" t="t" r="r" b="b"/>
            <a:pathLst>
              <a:path w="8229600" h="195263">
                <a:moveTo>
                  <a:pt x="0" y="0"/>
                </a:moveTo>
                <a:lnTo>
                  <a:pt x="8229600" y="0"/>
                </a:lnTo>
                <a:lnTo>
                  <a:pt x="82296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990515"/>
            <a:ext cx="82296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6D8B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clear read on particulate exposure and city-wide air quality.</a:t>
            </a:r>
            <a:endParaRPr lang="en-US" sz="900" dirty="0"/>
          </a:p>
        </p:txBody>
      </p:sp>
      <p:sp>
        <p:nvSpPr>
          <p:cNvPr id="11" name="TextBox 10"/>
          <p:cNvSpPr txBox="1"/>
          <p:nvPr/>
        </p:nvSpPr>
        <p:spPr>
          <a:xfrm>
            <a:off x="566928" y="132588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A50"/>
                </a:solidFill>
              </a:defRPr>
            </a:pPr>
            <a:r>
              <a:t>Six headline measures from the complete 2025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783080"/>
            <a:ext cx="2514600" cy="1170432"/>
          </a:xfrm>
          <a:prstGeom prst="roundRect">
            <a:avLst/>
          </a:prstGeom>
          <a:solidFill>
            <a:srgbClr val="F8FAF8"/>
          </a:solidFill>
          <a:ln w="15240">
            <a:solidFill>
              <a:srgbClr val="365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4B2D"/>
                </a:solidFill>
              </a:rPr>
              <a:t>Average AQI</a:t>
            </a:r>
          </a:p>
          <a:p>
            <a:pPr algn="ctr"/>
            <a:r>
              <a:rPr sz="2400" b="1">
                <a:solidFill>
                  <a:srgbClr val="1C371C"/>
                </a:solidFill>
              </a:rPr>
              <a:t>287.36</a:t>
            </a:r>
          </a:p>
          <a:p>
            <a:pPr algn="ctr"/>
            <a:r>
              <a:rPr sz="850">
                <a:solidFill>
                  <a:srgbClr val="5F645F"/>
                </a:solidFill>
              </a:rPr>
              <a:t>Mean air-quality index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783080"/>
            <a:ext cx="2514600" cy="1170432"/>
          </a:xfrm>
          <a:prstGeom prst="roundRect">
            <a:avLst/>
          </a:prstGeom>
          <a:solidFill>
            <a:srgbClr val="F8FAF8"/>
          </a:solidFill>
          <a:ln w="15240">
            <a:solidFill>
              <a:srgbClr val="365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4B2D"/>
                </a:solidFill>
              </a:rPr>
              <a:t>Maximum AQI</a:t>
            </a:r>
          </a:p>
          <a:p>
            <a:pPr algn="ctr"/>
            <a:r>
              <a:rPr sz="2400" b="1">
                <a:solidFill>
                  <a:srgbClr val="1C371C"/>
                </a:solidFill>
              </a:rPr>
              <a:t>2742</a:t>
            </a:r>
          </a:p>
          <a:p>
            <a:pPr algn="ctr"/>
            <a:r>
              <a:rPr sz="850">
                <a:solidFill>
                  <a:srgbClr val="5F645F"/>
                </a:solidFill>
              </a:rPr>
              <a:t>Highest recorded 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0176" y="1783080"/>
            <a:ext cx="2514600" cy="1170432"/>
          </a:xfrm>
          <a:prstGeom prst="roundRect">
            <a:avLst/>
          </a:prstGeom>
          <a:solidFill>
            <a:srgbClr val="F8FAF8"/>
          </a:solidFill>
          <a:ln w="15240">
            <a:solidFill>
              <a:srgbClr val="365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4B2D"/>
                </a:solidFill>
              </a:rPr>
              <a:t>Average PM2.5</a:t>
            </a:r>
          </a:p>
          <a:p>
            <a:pPr algn="ctr"/>
            <a:r>
              <a:rPr sz="2400" b="1">
                <a:solidFill>
                  <a:srgbClr val="1C371C"/>
                </a:solidFill>
              </a:rPr>
              <a:t>89.54</a:t>
            </a:r>
          </a:p>
          <a:p>
            <a:pPr algn="ctr"/>
            <a:r>
              <a:rPr sz="850">
                <a:solidFill>
                  <a:srgbClr val="5F645F"/>
                </a:solidFill>
              </a:rPr>
              <a:t>Fine particulate matter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73552"/>
            <a:ext cx="2514600" cy="1170432"/>
          </a:xfrm>
          <a:prstGeom prst="roundRect">
            <a:avLst/>
          </a:prstGeom>
          <a:solidFill>
            <a:srgbClr val="F8FAF8"/>
          </a:solidFill>
          <a:ln w="15240">
            <a:solidFill>
              <a:srgbClr val="365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4B2D"/>
                </a:solidFill>
              </a:rPr>
              <a:t>Average PM10</a:t>
            </a:r>
          </a:p>
          <a:p>
            <a:pPr algn="ctr"/>
            <a:r>
              <a:rPr sz="2400" b="1">
                <a:solidFill>
                  <a:srgbClr val="1C371C"/>
                </a:solidFill>
              </a:rPr>
              <a:t>300.46</a:t>
            </a:r>
          </a:p>
          <a:p>
            <a:pPr algn="ctr"/>
            <a:r>
              <a:rPr sz="850">
                <a:solidFill>
                  <a:srgbClr val="5F645F"/>
                </a:solidFill>
              </a:rPr>
              <a:t>Coarse particulate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3273552"/>
            <a:ext cx="2514600" cy="1170432"/>
          </a:xfrm>
          <a:prstGeom prst="roundRect">
            <a:avLst/>
          </a:prstGeom>
          <a:solidFill>
            <a:srgbClr val="F8FAF8"/>
          </a:solidFill>
          <a:ln w="15240">
            <a:solidFill>
              <a:srgbClr val="365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4B2D"/>
                </a:solidFill>
              </a:rPr>
              <a:t>Average CO</a:t>
            </a:r>
          </a:p>
          <a:p>
            <a:pPr algn="ctr"/>
            <a:r>
              <a:rPr sz="2400" b="1">
                <a:solidFill>
                  <a:srgbClr val="1C371C"/>
                </a:solidFill>
              </a:rPr>
              <a:t>863.84</a:t>
            </a:r>
          </a:p>
          <a:p>
            <a:pPr algn="ctr"/>
            <a:r>
              <a:rPr sz="850">
                <a:solidFill>
                  <a:srgbClr val="5F645F"/>
                </a:solidFill>
              </a:rPr>
              <a:t>Carbon monoxide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0176" y="3273552"/>
            <a:ext cx="2514600" cy="1170432"/>
          </a:xfrm>
          <a:prstGeom prst="roundRect">
            <a:avLst/>
          </a:prstGeom>
          <a:solidFill>
            <a:srgbClr val="F8FAF8"/>
          </a:solidFill>
          <a:ln w="15240">
            <a:solidFill>
              <a:srgbClr val="365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4B2D"/>
                </a:solidFill>
              </a:rPr>
              <a:t>Average NO₂</a:t>
            </a:r>
          </a:p>
          <a:p>
            <a:pPr algn="ctr"/>
            <a:r>
              <a:rPr sz="2400" b="1">
                <a:solidFill>
                  <a:srgbClr val="1C371C"/>
                </a:solidFill>
              </a:rPr>
              <a:t>35.44</a:t>
            </a:r>
          </a:p>
          <a:p>
            <a:pPr algn="ctr"/>
            <a:r>
              <a:rPr sz="850">
                <a:solidFill>
                  <a:srgbClr val="5F645F"/>
                </a:solidFill>
              </a:rPr>
              <a:t>Nitrogen dioxide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7F5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5" name="Shape 2"/>
          <p:cNvSpPr/>
          <p:nvPr/>
        </p:nvSpPr>
        <p:spPr>
          <a:xfrm>
            <a:off x="457200" y="361467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57200" y="361467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 QUALITY ANALYSIS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66724"/>
            <a:ext cx="8229600" cy="338137"/>
          </a:xfrm>
          <a:custGeom>
            <a:avLst/>
            <a:gdLst/>
            <a:ahLst/>
            <a:cxnLst/>
            <a:rect l="l" t="t" r="r" b="b"/>
            <a:pathLst>
              <a:path w="8229600" h="338137">
                <a:moveTo>
                  <a:pt x="0" y="0"/>
                </a:moveTo>
                <a:lnTo>
                  <a:pt x="8229600" y="0"/>
                </a:lnTo>
                <a:lnTo>
                  <a:pt x="8229600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57200" y="566724"/>
            <a:ext cx="8229600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973419"/>
            <a:ext cx="5619750" cy="409575"/>
          </a:xfrm>
          <a:custGeom>
            <a:avLst/>
            <a:gdLst/>
            <a:ahLst/>
            <a:cxnLst/>
            <a:rect l="l" t="t" r="r" b="b"/>
            <a:pathLst>
              <a:path w="5619750" h="409575">
                <a:moveTo>
                  <a:pt x="0" y="0"/>
                </a:moveTo>
                <a:lnTo>
                  <a:pt x="5619750" y="0"/>
                </a:lnTo>
                <a:lnTo>
                  <a:pt x="561975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57200" y="973419"/>
            <a:ext cx="5619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sz="1600"/>
              <a:t>Key patterns identified from the final Excel analysis.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8178" y="1956410"/>
            <a:ext cx="5153025" cy="3106493"/>
          </a:xfrm>
          <a:custGeom>
            <a:avLst/>
            <a:gdLst/>
            <a:ahLst/>
            <a:cxnLst/>
            <a:rect l="l" t="t" r="r" b="b"/>
            <a:pathLst>
              <a:path w="5153025" h="2843213">
                <a:moveTo>
                  <a:pt x="33692" y="0"/>
                </a:moveTo>
                <a:lnTo>
                  <a:pt x="5119333" y="0"/>
                </a:lnTo>
                <a:quadBezTo>
                  <a:pt x="5153025" y="0"/>
                  <a:pt x="5153025" y="33692"/>
                </a:quadBezTo>
                <a:lnTo>
                  <a:pt x="5153025" y="2809520"/>
                </a:lnTo>
                <a:quadBezTo>
                  <a:pt x="5153025" y="2843213"/>
                  <a:pt x="5119333" y="2843213"/>
                </a:quadBezTo>
                <a:lnTo>
                  <a:pt x="33692" y="2843213"/>
                </a:lnTo>
                <a:quadBezTo>
                  <a:pt x="0" y="2843213"/>
                  <a:pt x="0" y="2809520"/>
                </a:quadBezTo>
                <a:lnTo>
                  <a:pt x="0" y="33692"/>
                </a:lnTo>
                <a:quadBezTo>
                  <a:pt x="0" y="0"/>
                  <a:pt x="33692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33350" dist="57150" dir="2700000" algn="bl" rotWithShape="0">
              <a:srgbClr val="1B5E20">
                <a:alpha val="7843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2" name="Shape 9"/>
          <p:cNvSpPr/>
          <p:nvPr/>
        </p:nvSpPr>
        <p:spPr>
          <a:xfrm>
            <a:off x="704850" y="2227574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63062" y="0"/>
                </a:moveTo>
                <a:lnTo>
                  <a:pt x="213163" y="0"/>
                </a:lnTo>
                <a:quadBezTo>
                  <a:pt x="276225" y="0"/>
                  <a:pt x="276225" y="63062"/>
                </a:quadBezTo>
                <a:lnTo>
                  <a:pt x="276225" y="213163"/>
                </a:lnTo>
                <a:quadBezTo>
                  <a:pt x="276225" y="276225"/>
                  <a:pt x="213163" y="276225"/>
                </a:quadBezTo>
                <a:lnTo>
                  <a:pt x="63062" y="276225"/>
                </a:lnTo>
                <a:quadBezTo>
                  <a:pt x="0" y="276225"/>
                  <a:pt x="0" y="213163"/>
                </a:quadBezTo>
                <a:lnTo>
                  <a:pt x="0" y="63062"/>
                </a:lnTo>
                <a:quadBezTo>
                  <a:pt x="0" y="0"/>
                  <a:pt x="63062" y="0"/>
                </a:quadBezTo>
                <a:close/>
              </a:path>
            </a:pathLst>
          </a:custGeom>
          <a:solidFill>
            <a:srgbClr val="E8F1E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294249"/>
            <a:ext cx="142875" cy="1428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66871" y="2184258"/>
            <a:ext cx="2952750" cy="185738"/>
          </a:xfrm>
          <a:custGeom>
            <a:avLst/>
            <a:gdLst/>
            <a:ahLst/>
            <a:cxnLst/>
            <a:rect l="l" t="t" r="r" b="b"/>
            <a:pathLst>
              <a:path w="2952750" h="185738">
                <a:moveTo>
                  <a:pt x="0" y="0"/>
                </a:moveTo>
                <a:lnTo>
                  <a:pt x="2952750" y="0"/>
                </a:lnTo>
                <a:lnTo>
                  <a:pt x="2952750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1066871" y="2399265"/>
            <a:ext cx="2952750" cy="147637"/>
          </a:xfrm>
          <a:custGeom>
            <a:avLst/>
            <a:gdLst/>
            <a:ahLst/>
            <a:cxnLst/>
            <a:rect l="l" t="t" r="r" b="b"/>
            <a:pathLst>
              <a:path w="2952750" h="147637">
                <a:moveTo>
                  <a:pt x="0" y="0"/>
                </a:moveTo>
                <a:lnTo>
                  <a:pt x="2952750" y="0"/>
                </a:lnTo>
                <a:lnTo>
                  <a:pt x="295275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2752159"/>
            <a:ext cx="142875" cy="14287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63003" y="2737870"/>
            <a:ext cx="4400550" cy="171450"/>
          </a:xfrm>
          <a:custGeom>
            <a:avLst/>
            <a:gdLst/>
            <a:ahLst/>
            <a:cxnLst/>
            <a:rect l="l" t="t" r="r" b="b"/>
            <a:pathLst>
              <a:path w="4400550" h="171450">
                <a:moveTo>
                  <a:pt x="0" y="0"/>
                </a:moveTo>
                <a:lnTo>
                  <a:pt x="4400550" y="0"/>
                </a:lnTo>
                <a:lnTo>
                  <a:pt x="44005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963003" y="2737870"/>
            <a:ext cx="440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6957"/>
              </a:lnSpc>
              <a:spcBef>
                <a:spcPts val="281"/>
              </a:spcBef>
              <a:buNone/>
            </a:pPr>
            <a:r>
              <a:rPr sz="1200" b="1">
                <a:solidFill>
                  <a:srgbClr val="1F6926"/>
                </a:solidFill>
              </a:rPr>
              <a:t>AQI CATEGORY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963003" y="2946938"/>
            <a:ext cx="4400550" cy="347663"/>
          </a:xfrm>
          <a:custGeom>
            <a:avLst/>
            <a:gdLst/>
            <a:ahLst/>
            <a:cxnLst/>
            <a:rect l="l" t="t" r="r" b="b"/>
            <a:pathLst>
              <a:path w="4400550" h="347663">
                <a:moveTo>
                  <a:pt x="0" y="0"/>
                </a:moveTo>
                <a:lnTo>
                  <a:pt x="4400550" y="0"/>
                </a:lnTo>
                <a:lnTo>
                  <a:pt x="440055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7"/>
          <p:cNvSpPr/>
          <p:nvPr/>
        </p:nvSpPr>
        <p:spPr>
          <a:xfrm>
            <a:off x="963003" y="2946938"/>
            <a:ext cx="440055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sz="1100" dirty="0"/>
              <a:t>Moderate: 64.05%</a:t>
            </a:r>
            <a:br>
              <a:rPr dirty="0"/>
            </a:br>
            <a:r>
              <a:rPr sz="1100" dirty="0"/>
              <a:t>Severe: 15.36%</a:t>
            </a:r>
            <a:br>
              <a:rPr dirty="0"/>
            </a:br>
            <a:r>
              <a:rPr sz="1100" dirty="0"/>
              <a:t>Good: 0%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05828" y="3436993"/>
            <a:ext cx="4657725" cy="4763"/>
          </a:xfrm>
          <a:custGeom>
            <a:avLst/>
            <a:gdLst/>
            <a:ahLst/>
            <a:cxnLst/>
            <a:rect l="l" t="t" r="r" b="b"/>
            <a:pathLst>
              <a:path w="4657725" h="4763">
                <a:moveTo>
                  <a:pt x="0" y="0"/>
                </a:moveTo>
                <a:lnTo>
                  <a:pt x="4657725" y="0"/>
                </a:lnTo>
                <a:lnTo>
                  <a:pt x="4657725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DDE8D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3598918"/>
            <a:ext cx="142875" cy="14287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62805" y="3584632"/>
            <a:ext cx="4010025" cy="171450"/>
          </a:xfrm>
          <a:custGeom>
            <a:avLst/>
            <a:gdLst/>
            <a:ahLst/>
            <a:cxnLst/>
            <a:rect l="l" t="t" r="r" b="b"/>
            <a:pathLst>
              <a:path w="4010025" h="171450">
                <a:moveTo>
                  <a:pt x="0" y="0"/>
                </a:moveTo>
                <a:lnTo>
                  <a:pt x="4010025" y="0"/>
                </a:lnTo>
                <a:lnTo>
                  <a:pt x="401002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0"/>
          <p:cNvSpPr/>
          <p:nvPr/>
        </p:nvSpPr>
        <p:spPr>
          <a:xfrm>
            <a:off x="962805" y="3584632"/>
            <a:ext cx="40100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6957"/>
              </a:lnSpc>
              <a:spcBef>
                <a:spcPts val="281"/>
              </a:spcBef>
              <a:buNone/>
            </a:pPr>
            <a:r>
              <a:rPr sz="1200" b="1">
                <a:solidFill>
                  <a:srgbClr val="1F6926"/>
                </a:solidFill>
              </a:rPr>
              <a:t>LOCATION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962805" y="3795131"/>
            <a:ext cx="4010025" cy="171450"/>
          </a:xfrm>
          <a:custGeom>
            <a:avLst/>
            <a:gdLst/>
            <a:ahLst/>
            <a:cxnLst/>
            <a:rect l="l" t="t" r="r" b="b"/>
            <a:pathLst>
              <a:path w="4010025" h="171450">
                <a:moveTo>
                  <a:pt x="0" y="0"/>
                </a:moveTo>
                <a:lnTo>
                  <a:pt x="4010025" y="0"/>
                </a:lnTo>
                <a:lnTo>
                  <a:pt x="401002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962805" y="3795131"/>
            <a:ext cx="40100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sz="1000" b="0"/>
              <a:t>IGI Airport, Dwarka, Okhla Phase III</a:t>
            </a:r>
            <a:br/>
            <a:r>
              <a:rPr sz="1000" b="0"/>
              <a:t>Average AQI: 380.28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05828" y="4110406"/>
            <a:ext cx="4657725" cy="4763"/>
          </a:xfrm>
          <a:custGeom>
            <a:avLst/>
            <a:gdLst/>
            <a:ahLst/>
            <a:cxnLst/>
            <a:rect l="l" t="t" r="r" b="b"/>
            <a:pathLst>
              <a:path w="4657725" h="4763">
                <a:moveTo>
                  <a:pt x="0" y="0"/>
                </a:moveTo>
                <a:lnTo>
                  <a:pt x="4657725" y="0"/>
                </a:lnTo>
                <a:lnTo>
                  <a:pt x="4657725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DDE8D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4272331"/>
            <a:ext cx="142875" cy="14287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62436" y="4258045"/>
            <a:ext cx="3757613" cy="171450"/>
          </a:xfrm>
          <a:custGeom>
            <a:avLst/>
            <a:gdLst/>
            <a:ahLst/>
            <a:cxnLst/>
            <a:rect l="l" t="t" r="r" b="b"/>
            <a:pathLst>
              <a:path w="3757613" h="171450">
                <a:moveTo>
                  <a:pt x="0" y="0"/>
                </a:moveTo>
                <a:lnTo>
                  <a:pt x="3757613" y="0"/>
                </a:lnTo>
                <a:lnTo>
                  <a:pt x="3757613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5"/>
          <p:cNvSpPr/>
          <p:nvPr/>
        </p:nvSpPr>
        <p:spPr>
          <a:xfrm>
            <a:off x="962436" y="4258045"/>
            <a:ext cx="37576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6957"/>
              </a:lnSpc>
              <a:spcBef>
                <a:spcPts val="281"/>
              </a:spcBef>
              <a:buNone/>
            </a:pPr>
            <a:r>
              <a:rPr sz="1200" b="1">
                <a:solidFill>
                  <a:srgbClr val="1F6926"/>
                </a:solidFill>
              </a:rPr>
              <a:t>TIME PATTERN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962436" y="4468543"/>
            <a:ext cx="3757613" cy="171450"/>
          </a:xfrm>
          <a:custGeom>
            <a:avLst/>
            <a:gdLst/>
            <a:ahLst/>
            <a:cxnLst/>
            <a:rect l="l" t="t" r="r" b="b"/>
            <a:pathLst>
              <a:path w="3757613" h="171450">
                <a:moveTo>
                  <a:pt x="0" y="0"/>
                </a:moveTo>
                <a:lnTo>
                  <a:pt x="3757613" y="0"/>
                </a:lnTo>
                <a:lnTo>
                  <a:pt x="3757613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27"/>
          <p:cNvSpPr/>
          <p:nvPr/>
        </p:nvSpPr>
        <p:spPr>
          <a:xfrm>
            <a:off x="962436" y="4468543"/>
            <a:ext cx="375761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sz="1000" b="0"/>
              <a:t>May: 582.76 AQI</a:t>
            </a:r>
            <a:br/>
            <a:r>
              <a:rPr sz="1000" b="0"/>
              <a:t>September: 123.89 AQI</a:t>
            </a:r>
            <a:br/>
            <a:r>
              <a:rPr sz="1000" b="0"/>
              <a:t>Hourly peak: ~18:00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5858836" y="1956410"/>
            <a:ext cx="2828925" cy="2843213"/>
          </a:xfrm>
          <a:custGeom>
            <a:avLst/>
            <a:gdLst/>
            <a:ahLst/>
            <a:cxnLst/>
            <a:rect l="l" t="t" r="r" b="b"/>
            <a:pathLst>
              <a:path w="2828925" h="2843213">
                <a:moveTo>
                  <a:pt x="33862" y="0"/>
                </a:moveTo>
                <a:lnTo>
                  <a:pt x="2795063" y="0"/>
                </a:lnTo>
                <a:quadBezTo>
                  <a:pt x="2828925" y="0"/>
                  <a:pt x="2828925" y="33862"/>
                </a:quadBezTo>
                <a:lnTo>
                  <a:pt x="2828925" y="2809350"/>
                </a:lnTo>
                <a:quadBezTo>
                  <a:pt x="2828925" y="2843213"/>
                  <a:pt x="2795063" y="2843213"/>
                </a:quadBezTo>
                <a:lnTo>
                  <a:pt x="33862" y="2843213"/>
                </a:lnTo>
                <a:quadBezTo>
                  <a:pt x="0" y="2843213"/>
                  <a:pt x="0" y="2809350"/>
                </a:quadBezTo>
                <a:lnTo>
                  <a:pt x="0" y="33862"/>
                </a:lnTo>
                <a:quadBezTo>
                  <a:pt x="0" y="0"/>
                  <a:pt x="33862" y="0"/>
                </a:quadBezTo>
                <a:close/>
              </a:path>
            </a:pathLst>
          </a:custGeom>
          <a:solidFill>
            <a:srgbClr val="1B5E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29"/>
          <p:cNvSpPr/>
          <p:nvPr/>
        </p:nvSpPr>
        <p:spPr>
          <a:xfrm>
            <a:off x="6078903" y="2184030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63062" y="0"/>
                </a:moveTo>
                <a:lnTo>
                  <a:pt x="213163" y="0"/>
                </a:lnTo>
                <a:quadBezTo>
                  <a:pt x="276225" y="0"/>
                  <a:pt x="276225" y="63062"/>
                </a:quadBezTo>
                <a:lnTo>
                  <a:pt x="276225" y="213163"/>
                </a:lnTo>
                <a:quadBezTo>
                  <a:pt x="276225" y="276225"/>
                  <a:pt x="213163" y="276225"/>
                </a:quadBezTo>
                <a:lnTo>
                  <a:pt x="63062" y="276225"/>
                </a:lnTo>
                <a:quadBezTo>
                  <a:pt x="0" y="276225"/>
                  <a:pt x="0" y="213163"/>
                </a:quadBezTo>
                <a:lnTo>
                  <a:pt x="0" y="63062"/>
                </a:lnTo>
                <a:quadBezTo>
                  <a:pt x="0" y="0"/>
                  <a:pt x="63062" y="0"/>
                </a:quadBezTo>
                <a:close/>
              </a:path>
            </a:pathLst>
          </a:custGeom>
          <a:solidFill>
            <a:srgbClr val="66BB6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5578" y="2250705"/>
            <a:ext cx="142875" cy="142875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6440485" y="2229275"/>
            <a:ext cx="1400175" cy="185738"/>
          </a:xfrm>
          <a:custGeom>
            <a:avLst/>
            <a:gdLst/>
            <a:ahLst/>
            <a:cxnLst/>
            <a:rect l="l" t="t" r="r" b="b"/>
            <a:pathLst>
              <a:path w="1400175" h="185738">
                <a:moveTo>
                  <a:pt x="0" y="0"/>
                </a:moveTo>
                <a:lnTo>
                  <a:pt x="1400175" y="0"/>
                </a:lnTo>
                <a:lnTo>
                  <a:pt x="140017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1"/>
          <p:cNvSpPr/>
          <p:nvPr/>
        </p:nvSpPr>
        <p:spPr>
          <a:xfrm>
            <a:off x="6421803" y="202860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sz="1100" b="1" dirty="0">
                <a:solidFill>
                  <a:srgbClr val="FFFFFF"/>
                </a:solidFill>
              </a:rPr>
              <a:t>POLLUTION FLAG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6077911" y="2630742"/>
            <a:ext cx="2390775" cy="242888"/>
          </a:xfrm>
          <a:custGeom>
            <a:avLst/>
            <a:gdLst/>
            <a:ahLst/>
            <a:cxnLst/>
            <a:rect l="l" t="t" r="r" b="b"/>
            <a:pathLst>
              <a:path w="2390775" h="242888">
                <a:moveTo>
                  <a:pt x="0" y="0"/>
                </a:moveTo>
                <a:lnTo>
                  <a:pt x="2390775" y="0"/>
                </a:lnTo>
                <a:lnTo>
                  <a:pt x="2390775" y="242888"/>
                </a:lnTo>
                <a:lnTo>
                  <a:pt x="0" y="2428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3"/>
          <p:cNvSpPr/>
          <p:nvPr/>
        </p:nvSpPr>
        <p:spPr>
          <a:xfrm>
            <a:off x="6309360" y="2542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sz="1100" b="1">
                <a:solidFill>
                  <a:srgbClr val="FFFFFF"/>
                </a:solidFill>
              </a:rPr>
              <a:t>AQI &gt; 200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6077911" y="2976931"/>
            <a:ext cx="2390775" cy="581025"/>
          </a:xfrm>
          <a:custGeom>
            <a:avLst/>
            <a:gdLst/>
            <a:ahLst/>
            <a:cxnLst/>
            <a:rect l="l" t="t" r="r" b="b"/>
            <a:pathLst>
              <a:path w="2390775" h="581025">
                <a:moveTo>
                  <a:pt x="0" y="0"/>
                </a:moveTo>
                <a:lnTo>
                  <a:pt x="2390775" y="0"/>
                </a:lnTo>
                <a:lnTo>
                  <a:pt x="2390775" y="581025"/>
                </a:lnTo>
                <a:lnTo>
                  <a:pt x="0" y="5810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35"/>
          <p:cNvSpPr/>
          <p:nvPr/>
        </p:nvSpPr>
        <p:spPr>
          <a:xfrm>
            <a:off x="6077911" y="2976931"/>
            <a:ext cx="23907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sz="1200" b="0" dirty="0">
                <a:solidFill>
                  <a:srgbClr val="FFFFFF"/>
                </a:solidFill>
              </a:rPr>
              <a:t>16,674 observations</a:t>
            </a:r>
            <a:br>
              <a:rPr dirty="0"/>
            </a:br>
            <a:r>
              <a:rPr sz="1200" b="0" dirty="0">
                <a:solidFill>
                  <a:srgbClr val="FFFFFF"/>
                </a:solidFill>
              </a:rPr>
              <a:t>31.72% flagged High Pollution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6077911" y="4095863"/>
            <a:ext cx="2390775" cy="476250"/>
          </a:xfrm>
          <a:custGeom>
            <a:avLst/>
            <a:gdLst/>
            <a:ahLst/>
            <a:cxnLst/>
            <a:rect l="l" t="t" r="r" b="b"/>
            <a:pathLst>
              <a:path w="2390775" h="476250">
                <a:moveTo>
                  <a:pt x="0" y="0"/>
                </a:moveTo>
                <a:lnTo>
                  <a:pt x="2390775" y="0"/>
                </a:lnTo>
                <a:lnTo>
                  <a:pt x="2390775" y="47625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8903" y="4266292"/>
            <a:ext cx="133350" cy="133350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6287461" y="4252459"/>
            <a:ext cx="2181225" cy="319088"/>
          </a:xfrm>
          <a:custGeom>
            <a:avLst/>
            <a:gdLst/>
            <a:ahLst/>
            <a:cxnLst/>
            <a:rect l="l" t="t" r="r" b="b"/>
            <a:pathLst>
              <a:path w="2181225" h="319088">
                <a:moveTo>
                  <a:pt x="0" y="0"/>
                </a:moveTo>
                <a:lnTo>
                  <a:pt x="2181225" y="0"/>
                </a:lnTo>
                <a:lnTo>
                  <a:pt x="2181225" y="319088"/>
                </a:lnTo>
                <a:lnTo>
                  <a:pt x="0" y="319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7911" y="4095863"/>
            <a:ext cx="2390775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438150" y="370992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38150" y="370992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 QUALITY MONITORING SYSTEM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50" y="585107"/>
            <a:ext cx="8267700" cy="328613"/>
          </a:xfrm>
          <a:custGeom>
            <a:avLst/>
            <a:gdLst/>
            <a:ahLst/>
            <a:cxnLst/>
            <a:rect l="l" t="t" r="r" b="b"/>
            <a:pathLst>
              <a:path w="8267700" h="328613">
                <a:moveTo>
                  <a:pt x="0" y="0"/>
                </a:moveTo>
                <a:lnTo>
                  <a:pt x="8267700" y="0"/>
                </a:lnTo>
                <a:lnTo>
                  <a:pt x="8267700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38150" y="585107"/>
            <a:ext cx="82677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ANALYTICAL VISUALIZATIONS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50" y="1018777"/>
            <a:ext cx="6096000" cy="385763"/>
          </a:xfrm>
          <a:custGeom>
            <a:avLst/>
            <a:gdLst/>
            <a:ahLst/>
            <a:cxnLst/>
            <a:rect l="l" t="t" r="r" b="b"/>
            <a:pathLst>
              <a:path w="6096000" h="385763">
                <a:moveTo>
                  <a:pt x="0" y="0"/>
                </a:moveTo>
                <a:lnTo>
                  <a:pt x="6096000" y="0"/>
                </a:lnTo>
                <a:lnTo>
                  <a:pt x="609600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38150" y="1680765"/>
            <a:ext cx="1938337" cy="2286000"/>
          </a:xfrm>
          <a:custGeom>
            <a:avLst/>
            <a:gdLst/>
            <a:ahLst/>
            <a:cxnLst/>
            <a:rect l="l" t="t" r="r" b="b"/>
            <a:pathLst>
              <a:path w="1938337" h="2286000">
                <a:moveTo>
                  <a:pt x="40434" y="0"/>
                </a:moveTo>
                <a:lnTo>
                  <a:pt x="1897904" y="0"/>
                </a:lnTo>
                <a:quadBezTo>
                  <a:pt x="1938337" y="0"/>
                  <a:pt x="1938337" y="40434"/>
                </a:quadBezTo>
                <a:lnTo>
                  <a:pt x="1938337" y="2245566"/>
                </a:lnTo>
                <a:quadBezTo>
                  <a:pt x="1938337" y="2286000"/>
                  <a:pt x="1897904" y="2286000"/>
                </a:quadBezTo>
                <a:lnTo>
                  <a:pt x="40434" y="2286000"/>
                </a:lnTo>
                <a:quadBezTo>
                  <a:pt x="0" y="2286000"/>
                  <a:pt x="0" y="2245566"/>
                </a:quadBezTo>
                <a:lnTo>
                  <a:pt x="0" y="40434"/>
                </a:lnTo>
                <a:quadBezTo>
                  <a:pt x="0" y="0"/>
                  <a:pt x="40434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04775" dist="38100" dir="2700000" algn="bl" rotWithShape="0">
              <a:srgbClr val="1F2933">
                <a:alpha val="7843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3609577"/>
            <a:ext cx="133350" cy="13335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62000" y="3526234"/>
            <a:ext cx="1490663" cy="300038"/>
          </a:xfrm>
          <a:custGeom>
            <a:avLst/>
            <a:gdLst/>
            <a:ahLst/>
            <a:cxnLst/>
            <a:rect l="l" t="t" r="r" b="b"/>
            <a:pathLst>
              <a:path w="1490663" h="300038">
                <a:moveTo>
                  <a:pt x="0" y="0"/>
                </a:moveTo>
                <a:lnTo>
                  <a:pt x="1490663" y="0"/>
                </a:lnTo>
                <a:lnTo>
                  <a:pt x="1490663" y="300038"/>
                </a:lnTo>
                <a:lnTo>
                  <a:pt x="0" y="3000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762000" y="3526234"/>
            <a:ext cx="14906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sz="1000" b="1">
                <a:solidFill>
                  <a:srgbClr val="232D37"/>
                </a:solidFill>
              </a:rPr>
              <a:t>AQI severity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2547937" y="1680765"/>
            <a:ext cx="1938337" cy="2286000"/>
          </a:xfrm>
          <a:custGeom>
            <a:avLst/>
            <a:gdLst/>
            <a:ahLst/>
            <a:cxnLst/>
            <a:rect l="l" t="t" r="r" b="b"/>
            <a:pathLst>
              <a:path w="1938337" h="2286000">
                <a:moveTo>
                  <a:pt x="40434" y="0"/>
                </a:moveTo>
                <a:lnTo>
                  <a:pt x="1897904" y="0"/>
                </a:lnTo>
                <a:quadBezTo>
                  <a:pt x="1938337" y="0"/>
                  <a:pt x="1938337" y="40434"/>
                </a:quadBezTo>
                <a:lnTo>
                  <a:pt x="1938337" y="2245566"/>
                </a:lnTo>
                <a:quadBezTo>
                  <a:pt x="1938337" y="2286000"/>
                  <a:pt x="1897904" y="2286000"/>
                </a:quadBezTo>
                <a:lnTo>
                  <a:pt x="40434" y="2286000"/>
                </a:lnTo>
                <a:quadBezTo>
                  <a:pt x="0" y="2286000"/>
                  <a:pt x="0" y="2245566"/>
                </a:quadBezTo>
                <a:lnTo>
                  <a:pt x="0" y="40434"/>
                </a:lnTo>
                <a:quadBezTo>
                  <a:pt x="0" y="0"/>
                  <a:pt x="40434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04775" dist="38100" dir="2700000" algn="bl" rotWithShape="0">
              <a:srgbClr val="1F2933">
                <a:alpha val="7843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763" y="3609577"/>
            <a:ext cx="133350" cy="13335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2871788" y="3452415"/>
            <a:ext cx="1490663" cy="447675"/>
          </a:xfrm>
          <a:custGeom>
            <a:avLst/>
            <a:gdLst/>
            <a:ahLst/>
            <a:cxnLst/>
            <a:rect l="l" t="t" r="r" b="b"/>
            <a:pathLst>
              <a:path w="1490663" h="447675">
                <a:moveTo>
                  <a:pt x="0" y="0"/>
                </a:moveTo>
                <a:lnTo>
                  <a:pt x="1490663" y="0"/>
                </a:lnTo>
                <a:lnTo>
                  <a:pt x="1490663" y="447675"/>
                </a:lnTo>
                <a:lnTo>
                  <a:pt x="0" y="4476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3"/>
          <p:cNvSpPr/>
          <p:nvPr/>
        </p:nvSpPr>
        <p:spPr>
          <a:xfrm>
            <a:off x="2871788" y="3452415"/>
            <a:ext cx="1490663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sz="1000" b="1">
                <a:solidFill>
                  <a:srgbClr val="232D37"/>
                </a:solidFill>
              </a:rPr>
              <a:t>AQI by location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4657725" y="1680765"/>
            <a:ext cx="1938337" cy="2286000"/>
          </a:xfrm>
          <a:custGeom>
            <a:avLst/>
            <a:gdLst/>
            <a:ahLst/>
            <a:cxnLst/>
            <a:rect l="l" t="t" r="r" b="b"/>
            <a:pathLst>
              <a:path w="1938337" h="2286000">
                <a:moveTo>
                  <a:pt x="40434" y="0"/>
                </a:moveTo>
                <a:lnTo>
                  <a:pt x="1897904" y="0"/>
                </a:lnTo>
                <a:quadBezTo>
                  <a:pt x="1938337" y="0"/>
                  <a:pt x="1938337" y="40434"/>
                </a:quadBezTo>
                <a:lnTo>
                  <a:pt x="1938337" y="2245566"/>
                </a:lnTo>
                <a:quadBezTo>
                  <a:pt x="1938337" y="2286000"/>
                  <a:pt x="1897904" y="2286000"/>
                </a:quadBezTo>
                <a:lnTo>
                  <a:pt x="40434" y="2286000"/>
                </a:lnTo>
                <a:quadBezTo>
                  <a:pt x="0" y="2286000"/>
                  <a:pt x="0" y="2245566"/>
                </a:quadBezTo>
                <a:lnTo>
                  <a:pt x="0" y="40434"/>
                </a:lnTo>
                <a:quadBezTo>
                  <a:pt x="0" y="0"/>
                  <a:pt x="40434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04775" dist="38100" dir="2700000" algn="bl" rotWithShape="0">
              <a:srgbClr val="1F2933">
                <a:alpha val="7843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550" y="3609577"/>
            <a:ext cx="133350" cy="13335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4981575" y="3526234"/>
            <a:ext cx="1490663" cy="300038"/>
          </a:xfrm>
          <a:custGeom>
            <a:avLst/>
            <a:gdLst/>
            <a:ahLst/>
            <a:cxnLst/>
            <a:rect l="l" t="t" r="r" b="b"/>
            <a:pathLst>
              <a:path w="1490663" h="300038">
                <a:moveTo>
                  <a:pt x="0" y="0"/>
                </a:moveTo>
                <a:lnTo>
                  <a:pt x="1490663" y="0"/>
                </a:lnTo>
                <a:lnTo>
                  <a:pt x="1490663" y="300038"/>
                </a:lnTo>
                <a:lnTo>
                  <a:pt x="0" y="3000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16"/>
          <p:cNvSpPr/>
          <p:nvPr/>
        </p:nvSpPr>
        <p:spPr>
          <a:xfrm>
            <a:off x="4981575" y="3526234"/>
            <a:ext cx="14906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sz="1000" b="1">
                <a:solidFill>
                  <a:srgbClr val="232D37"/>
                </a:solidFill>
              </a:rPr>
              <a:t>AQI trends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6767512" y="1680765"/>
            <a:ext cx="1938337" cy="2286000"/>
          </a:xfrm>
          <a:custGeom>
            <a:avLst/>
            <a:gdLst/>
            <a:ahLst/>
            <a:cxnLst/>
            <a:rect l="l" t="t" r="r" b="b"/>
            <a:pathLst>
              <a:path w="1938337" h="2286000">
                <a:moveTo>
                  <a:pt x="40434" y="0"/>
                </a:moveTo>
                <a:lnTo>
                  <a:pt x="1897904" y="0"/>
                </a:lnTo>
                <a:quadBezTo>
                  <a:pt x="1938337" y="0"/>
                  <a:pt x="1938337" y="40434"/>
                </a:quadBezTo>
                <a:lnTo>
                  <a:pt x="1938337" y="2245566"/>
                </a:lnTo>
                <a:quadBezTo>
                  <a:pt x="1938337" y="2286000"/>
                  <a:pt x="1897904" y="2286000"/>
                </a:quadBezTo>
                <a:lnTo>
                  <a:pt x="40434" y="2286000"/>
                </a:lnTo>
                <a:quadBezTo>
                  <a:pt x="0" y="2286000"/>
                  <a:pt x="0" y="2245566"/>
                </a:quadBezTo>
                <a:lnTo>
                  <a:pt x="0" y="40434"/>
                </a:lnTo>
                <a:quadBezTo>
                  <a:pt x="0" y="0"/>
                  <a:pt x="40434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04775" dist="38100" dir="2700000" algn="bl" rotWithShape="0">
              <a:srgbClr val="1F2933">
                <a:alpha val="7843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7512" y="1680765"/>
            <a:ext cx="1938337" cy="1714500"/>
          </a:xfrm>
          <a:prstGeom prst="rect">
            <a:avLst/>
          </a:prstGeom>
        </p:spPr>
      </p:pic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1338" y="3609577"/>
            <a:ext cx="133350" cy="13335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7091363" y="3526234"/>
            <a:ext cx="1490663" cy="300038"/>
          </a:xfrm>
          <a:custGeom>
            <a:avLst/>
            <a:gdLst/>
            <a:ahLst/>
            <a:cxnLst/>
            <a:rect l="l" t="t" r="r" b="b"/>
            <a:pathLst>
              <a:path w="1490663" h="300038">
                <a:moveTo>
                  <a:pt x="0" y="0"/>
                </a:moveTo>
                <a:lnTo>
                  <a:pt x="1490663" y="0"/>
                </a:lnTo>
                <a:lnTo>
                  <a:pt x="1490663" y="300038"/>
                </a:lnTo>
                <a:lnTo>
                  <a:pt x="0" y="3000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19"/>
          <p:cNvSpPr/>
          <p:nvPr/>
        </p:nvSpPr>
        <p:spPr>
          <a:xfrm>
            <a:off x="7091363" y="3526234"/>
            <a:ext cx="14906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sz="1000" b="1">
                <a:solidFill>
                  <a:srgbClr val="232D37"/>
                </a:solidFill>
              </a:rPr>
              <a:t>Major pollutants</a:t>
            </a:r>
            <a:endParaRPr lang="en-US" sz="900" dirty="0"/>
          </a:p>
        </p:txBody>
      </p:sp>
      <p:sp>
        <p:nvSpPr>
          <p:cNvPr id="31" name="Shape 20"/>
          <p:cNvSpPr/>
          <p:nvPr/>
        </p:nvSpPr>
        <p:spPr>
          <a:xfrm>
            <a:off x="438150" y="4165600"/>
            <a:ext cx="8267700" cy="261937"/>
          </a:xfrm>
          <a:custGeom>
            <a:avLst/>
            <a:gdLst/>
            <a:ahLst/>
            <a:cxnLst/>
            <a:rect l="l" t="t" r="r" b="b"/>
            <a:pathLst>
              <a:path w="8267700" h="261937">
                <a:moveTo>
                  <a:pt x="0" y="0"/>
                </a:moveTo>
                <a:lnTo>
                  <a:pt x="8267700" y="0"/>
                </a:lnTo>
                <a:lnTo>
                  <a:pt x="8267700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21"/>
          <p:cNvSpPr/>
          <p:nvPr/>
        </p:nvSpPr>
        <p:spPr>
          <a:xfrm>
            <a:off x="437881" y="4289198"/>
            <a:ext cx="2705100" cy="138113"/>
          </a:xfrm>
          <a:custGeom>
            <a:avLst/>
            <a:gdLst/>
            <a:ahLst/>
            <a:cxnLst/>
            <a:rect l="l" t="t" r="r" b="b"/>
            <a:pathLst>
              <a:path w="2705100" h="138113">
                <a:moveTo>
                  <a:pt x="0" y="0"/>
                </a:moveTo>
                <a:lnTo>
                  <a:pt x="2705100" y="0"/>
                </a:lnTo>
                <a:lnTo>
                  <a:pt x="27051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4982" y="4296313"/>
            <a:ext cx="123825" cy="123825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7505957" y="4293564"/>
            <a:ext cx="1199893" cy="127000"/>
          </a:xfrm>
          <a:custGeom>
            <a:avLst/>
            <a:gdLst/>
            <a:ahLst/>
            <a:cxnLst/>
            <a:rect l="l" t="t" r="r" b="b"/>
            <a:pathLst>
              <a:path w="1199893" h="127000">
                <a:moveTo>
                  <a:pt x="0" y="0"/>
                </a:moveTo>
                <a:lnTo>
                  <a:pt x="1199893" y="0"/>
                </a:lnTo>
                <a:lnTo>
                  <a:pt x="1199893" y="127000"/>
                </a:lnTo>
                <a:lnTo>
                  <a:pt x="0" y="1270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8" name="Picture 37" descr="aqi_categ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" y="1680765"/>
            <a:ext cx="1938337" cy="1714500"/>
          </a:xfrm>
          <a:prstGeom prst="rect">
            <a:avLst/>
          </a:prstGeom>
        </p:spPr>
      </p:pic>
      <p:pic>
        <p:nvPicPr>
          <p:cNvPr id="40" name="Picture 39" descr="monthly_aq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7937" y="1680765"/>
            <a:ext cx="1938337" cy="1714500"/>
          </a:xfrm>
          <a:prstGeom prst="rect">
            <a:avLst/>
          </a:prstGeom>
        </p:spPr>
      </p:pic>
      <p:pic>
        <p:nvPicPr>
          <p:cNvPr id="41" name="Picture 40" descr="trends_pollutant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7725" y="1680765"/>
            <a:ext cx="1938337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4071935" y="361467"/>
            <a:ext cx="1000125" cy="138113"/>
          </a:xfrm>
          <a:custGeom>
            <a:avLst/>
            <a:gdLst/>
            <a:ahLst/>
            <a:cxnLst/>
            <a:rect l="l" t="t" r="r" b="b"/>
            <a:pathLst>
              <a:path w="1000125" h="138113">
                <a:moveTo>
                  <a:pt x="0" y="0"/>
                </a:moveTo>
                <a:lnTo>
                  <a:pt x="1000125" y="0"/>
                </a:lnTo>
                <a:lnTo>
                  <a:pt x="10001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071935" y="361467"/>
            <a:ext cx="10001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400550" y="565774"/>
            <a:ext cx="342900" cy="23812"/>
          </a:xfrm>
          <a:custGeom>
            <a:avLst/>
            <a:gdLst/>
            <a:ahLst/>
            <a:cxnLst/>
            <a:rect l="l" t="t" r="r" b="b"/>
            <a:pathLst>
              <a:path w="342900" h="23812">
                <a:moveTo>
                  <a:pt x="21167" y="0"/>
                </a:moveTo>
                <a:lnTo>
                  <a:pt x="588433" y="0"/>
                </a:lnTo>
                <a:quadBezTo>
                  <a:pt x="609600" y="0"/>
                  <a:pt x="609600" y="21167"/>
                </a:quadBezTo>
                <a:lnTo>
                  <a:pt x="609600" y="21167"/>
                </a:lnTo>
                <a:quadBezTo>
                  <a:pt x="609600" y="42333"/>
                  <a:pt x="588433" y="42333"/>
                </a:quadBezTo>
                <a:lnTo>
                  <a:pt x="21167" y="42333"/>
                </a:lnTo>
                <a:quadBezTo>
                  <a:pt x="0" y="42333"/>
                  <a:pt x="0" y="21167"/>
                </a:quadBezTo>
                <a:lnTo>
                  <a:pt x="0" y="21167"/>
                </a:lnTo>
                <a:quadBezTo>
                  <a:pt x="0" y="0"/>
                  <a:pt x="21167" y="0"/>
                </a:quadBezTo>
                <a:close/>
              </a:path>
            </a:pathLst>
          </a:custGeom>
          <a:solidFill>
            <a:srgbClr val="66BB6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25" y="1169079"/>
            <a:ext cx="209550" cy="2095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19250" y="1511866"/>
            <a:ext cx="5905500" cy="1414463"/>
          </a:xfrm>
          <a:custGeom>
            <a:avLst/>
            <a:gdLst/>
            <a:ahLst/>
            <a:cxnLst/>
            <a:rect l="l" t="t" r="r" b="b"/>
            <a:pathLst>
              <a:path w="5905500" h="1414463">
                <a:moveTo>
                  <a:pt x="0" y="0"/>
                </a:moveTo>
                <a:lnTo>
                  <a:pt x="5905500" y="0"/>
                </a:lnTo>
                <a:lnTo>
                  <a:pt x="5905500" y="1414463"/>
                </a:lnTo>
                <a:lnTo>
                  <a:pt x="0" y="14144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1619250" y="1511866"/>
            <a:ext cx="5905500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870"/>
              </a:lnSpc>
              <a:spcBef>
                <a:spcPts val="281"/>
              </a:spcBef>
              <a:buNone/>
            </a:pPr>
            <a:r>
              <a:t>The project transformed 52,560 hourly observations into a structured Excel analysis and an interactive dashboard for clearer air-quality interpretation.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69455" y="3059793"/>
            <a:ext cx="2605087" cy="166688"/>
          </a:xfrm>
          <a:custGeom>
            <a:avLst/>
            <a:gdLst/>
            <a:ahLst/>
            <a:cxnLst/>
            <a:rect l="l" t="t" r="r" b="b"/>
            <a:pathLst>
              <a:path w="2605087" h="166688">
                <a:moveTo>
                  <a:pt x="0" y="0"/>
                </a:moveTo>
                <a:lnTo>
                  <a:pt x="2605087" y="0"/>
                </a:lnTo>
                <a:lnTo>
                  <a:pt x="2605087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3269455" y="2526470"/>
            <a:ext cx="260508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6D8B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+ Power Query dashboard workflow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295400" y="2792438"/>
            <a:ext cx="6762750" cy="2351062"/>
          </a:xfrm>
          <a:custGeom>
            <a:avLst/>
            <a:gdLst/>
            <a:ahLst/>
            <a:cxnLst/>
            <a:rect l="l" t="t" r="r" b="b"/>
            <a:pathLst>
              <a:path w="6762750" h="995362">
                <a:moveTo>
                  <a:pt x="96252" y="0"/>
                </a:moveTo>
                <a:lnTo>
                  <a:pt x="6666498" y="0"/>
                </a:lnTo>
                <a:quadBezTo>
                  <a:pt x="6762750" y="0"/>
                  <a:pt x="6762750" y="96252"/>
                </a:quadBezTo>
                <a:lnTo>
                  <a:pt x="6762750" y="899111"/>
                </a:lnTo>
                <a:quadBezTo>
                  <a:pt x="6762750" y="995362"/>
                  <a:pt x="6666498" y="995362"/>
                </a:quadBezTo>
                <a:lnTo>
                  <a:pt x="96252" y="995362"/>
                </a:lnTo>
                <a:quadBezTo>
                  <a:pt x="0" y="995362"/>
                  <a:pt x="0" y="899111"/>
                </a:quadBezTo>
                <a:lnTo>
                  <a:pt x="0" y="96252"/>
                </a:lnTo>
                <a:quadBezTo>
                  <a:pt x="0" y="0"/>
                  <a:pt x="96252" y="0"/>
                </a:quadBezTo>
                <a:close/>
              </a:path>
            </a:pathLst>
          </a:custGeom>
          <a:solidFill>
            <a:srgbClr val="E8F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1934367" y="3731504"/>
            <a:ext cx="1090613" cy="161925"/>
          </a:xfrm>
          <a:custGeom>
            <a:avLst/>
            <a:gdLst/>
            <a:ahLst/>
            <a:cxnLst/>
            <a:rect l="l" t="t" r="r" b="b"/>
            <a:pathLst>
              <a:path w="1090613" h="161925">
                <a:moveTo>
                  <a:pt x="0" y="0"/>
                </a:moveTo>
                <a:lnTo>
                  <a:pt x="1090613" y="0"/>
                </a:lnTo>
                <a:lnTo>
                  <a:pt x="109061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1952624" y="2806834"/>
            <a:ext cx="10906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2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Reveal patterns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600994" y="3939609"/>
            <a:ext cx="1757363" cy="309562"/>
          </a:xfrm>
          <a:custGeom>
            <a:avLst/>
            <a:gdLst/>
            <a:ahLst/>
            <a:cxnLst/>
            <a:rect l="l" t="t" r="r" b="b"/>
            <a:pathLst>
              <a:path w="1757363" h="309562">
                <a:moveTo>
                  <a:pt x="0" y="0"/>
                </a:moveTo>
                <a:lnTo>
                  <a:pt x="1757363" y="0"/>
                </a:lnTo>
                <a:lnTo>
                  <a:pt x="1757363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1619250" y="3191083"/>
            <a:ext cx="1757363" cy="1247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7391"/>
              </a:lnSpc>
              <a:spcBef>
                <a:spcPts val="281"/>
              </a:spcBef>
              <a:buNone/>
            </a:pPr>
            <a:r>
              <a:rPr dirty="0"/>
              <a:t>PivotTables and charts made time, location, weather, and pollutant patterns visible.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521072" y="3654836"/>
            <a:ext cx="9525" cy="671513"/>
          </a:xfrm>
          <a:custGeom>
            <a:avLst/>
            <a:gdLst/>
            <a:ahLst/>
            <a:cxnLst/>
            <a:rect l="l" t="t" r="r" b="b"/>
            <a:pathLst>
              <a:path w="9525" h="671513">
                <a:moveTo>
                  <a:pt x="0" y="0"/>
                </a:moveTo>
                <a:lnTo>
                  <a:pt x="9525" y="0"/>
                </a:lnTo>
                <a:lnTo>
                  <a:pt x="9525" y="671513"/>
                </a:lnTo>
                <a:lnTo>
                  <a:pt x="0" y="671513"/>
                </a:lnTo>
                <a:close/>
              </a:path>
            </a:pathLst>
          </a:custGeom>
          <a:solidFill>
            <a:srgbClr val="A5D6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3990975" y="3731504"/>
            <a:ext cx="1162050" cy="161925"/>
          </a:xfrm>
          <a:custGeom>
            <a:avLst/>
            <a:gdLst/>
            <a:ahLst/>
            <a:cxnLst/>
            <a:rect l="l" t="t" r="r" b="b"/>
            <a:pathLst>
              <a:path w="1162050" h="161925">
                <a:moveTo>
                  <a:pt x="0" y="0"/>
                </a:moveTo>
                <a:lnTo>
                  <a:pt x="1162050" y="0"/>
                </a:lnTo>
                <a:lnTo>
                  <a:pt x="1162050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3997276" y="2814044"/>
            <a:ext cx="1162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2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repeatably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693317" y="3939609"/>
            <a:ext cx="1757363" cy="309562"/>
          </a:xfrm>
          <a:custGeom>
            <a:avLst/>
            <a:gdLst/>
            <a:ahLst/>
            <a:cxnLst/>
            <a:rect l="l" t="t" r="r" b="b"/>
            <a:pathLst>
              <a:path w="1757363" h="309562">
                <a:moveTo>
                  <a:pt x="0" y="0"/>
                </a:moveTo>
                <a:lnTo>
                  <a:pt x="1757363" y="0"/>
                </a:lnTo>
                <a:lnTo>
                  <a:pt x="1757363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8"/>
          <p:cNvSpPr/>
          <p:nvPr/>
        </p:nvSpPr>
        <p:spPr>
          <a:xfrm>
            <a:off x="3663951" y="3170156"/>
            <a:ext cx="1757363" cy="120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7391"/>
              </a:lnSpc>
              <a:spcBef>
                <a:spcPts val="281"/>
              </a:spcBef>
              <a:buNone/>
            </a:pPr>
            <a:r>
              <a:rPr dirty="0"/>
              <a:t>Power Query created a repeatable cleaning and transformation workflow.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613397" y="3654836"/>
            <a:ext cx="9525" cy="671513"/>
          </a:xfrm>
          <a:custGeom>
            <a:avLst/>
            <a:gdLst/>
            <a:ahLst/>
            <a:cxnLst/>
            <a:rect l="l" t="t" r="r" b="b"/>
            <a:pathLst>
              <a:path w="9525" h="671513">
                <a:moveTo>
                  <a:pt x="0" y="0"/>
                </a:moveTo>
                <a:lnTo>
                  <a:pt x="9525" y="0"/>
                </a:lnTo>
                <a:lnTo>
                  <a:pt x="9525" y="671513"/>
                </a:lnTo>
                <a:lnTo>
                  <a:pt x="0" y="671513"/>
                </a:lnTo>
                <a:close/>
              </a:path>
            </a:pathLst>
          </a:custGeom>
          <a:solidFill>
            <a:srgbClr val="A5D6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6090445" y="3654368"/>
            <a:ext cx="1147763" cy="161925"/>
          </a:xfrm>
          <a:custGeom>
            <a:avLst/>
            <a:gdLst/>
            <a:ahLst/>
            <a:cxnLst/>
            <a:rect l="l" t="t" r="r" b="b"/>
            <a:pathLst>
              <a:path w="1147763" h="161925">
                <a:moveTo>
                  <a:pt x="0" y="0"/>
                </a:moveTo>
                <a:lnTo>
                  <a:pt x="1147763" y="0"/>
                </a:lnTo>
                <a:lnTo>
                  <a:pt x="114776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6061870" y="2875988"/>
            <a:ext cx="11477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2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awareness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785641" y="3863423"/>
            <a:ext cx="1757363" cy="461962"/>
          </a:xfrm>
          <a:custGeom>
            <a:avLst/>
            <a:gdLst/>
            <a:ahLst/>
            <a:cxnLst/>
            <a:rect l="l" t="t" r="r" b="b"/>
            <a:pathLst>
              <a:path w="1757363" h="461962">
                <a:moveTo>
                  <a:pt x="0" y="0"/>
                </a:moveTo>
                <a:lnTo>
                  <a:pt x="1757363" y="0"/>
                </a:lnTo>
                <a:lnTo>
                  <a:pt x="1757363" y="461962"/>
                </a:lnTo>
                <a:lnTo>
                  <a:pt x="0" y="4619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5757069" y="3350504"/>
            <a:ext cx="1757363" cy="461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7391"/>
              </a:lnSpc>
              <a:spcBef>
                <a:spcPts val="281"/>
              </a:spcBef>
              <a:buNone/>
            </a:pPr>
            <a:r>
              <a:rPr dirty="0"/>
              <a:t>KPIs and slicers made the results easier to explore and communicate.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457200" y="370992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57200" y="370992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B5E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HORIZON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85859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57200" y="585859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21216"/>
            <a:ext cx="5334000" cy="409575"/>
          </a:xfrm>
          <a:custGeom>
            <a:avLst/>
            <a:gdLst/>
            <a:ahLst/>
            <a:cxnLst/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7200" y="1775520"/>
            <a:ext cx="2609850" cy="2566988"/>
          </a:xfrm>
          <a:custGeom>
            <a:avLst/>
            <a:gdLst/>
            <a:ahLst/>
            <a:cxnLst/>
            <a:rect l="l" t="t" r="r" b="b"/>
            <a:pathLst>
              <a:path w="2609850" h="2566988">
                <a:moveTo>
                  <a:pt x="40712" y="0"/>
                </a:moveTo>
                <a:lnTo>
                  <a:pt x="2569138" y="0"/>
                </a:lnTo>
                <a:quadBezTo>
                  <a:pt x="2609850" y="0"/>
                  <a:pt x="2609850" y="40712"/>
                </a:quadBezTo>
                <a:lnTo>
                  <a:pt x="2609850" y="2526275"/>
                </a:lnTo>
                <a:quadBezTo>
                  <a:pt x="2609850" y="2566988"/>
                  <a:pt x="2569138" y="2566988"/>
                </a:quadBezTo>
                <a:lnTo>
                  <a:pt x="40712" y="2566988"/>
                </a:lnTo>
                <a:quadBezTo>
                  <a:pt x="0" y="2566988"/>
                  <a:pt x="0" y="2526275"/>
                </a:quadBezTo>
                <a:lnTo>
                  <a:pt x="0" y="40712"/>
                </a:lnTo>
                <a:quadBezTo>
                  <a:pt x="0" y="0"/>
                  <a:pt x="40712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14300" dist="47625" dir="2700000" algn="bl" rotWithShape="0">
              <a:srgbClr val="1F2933">
                <a:alpha val="5882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57225" y="197465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57151" y="0"/>
                </a:moveTo>
                <a:lnTo>
                  <a:pt x="285749" y="0"/>
                </a:lnTo>
                <a:quadBezTo>
                  <a:pt x="342900" y="0"/>
                  <a:pt x="342900" y="57151"/>
                </a:quadBezTo>
                <a:lnTo>
                  <a:pt x="342900" y="285749"/>
                </a:lnTo>
                <a:quadBezTo>
                  <a:pt x="342900" y="342900"/>
                  <a:pt x="285749" y="342900"/>
                </a:quadBezTo>
                <a:lnTo>
                  <a:pt x="57151" y="342900"/>
                </a:lnTo>
                <a:quadBezTo>
                  <a:pt x="0" y="342900"/>
                  <a:pt x="0" y="285749"/>
                </a:quadBezTo>
                <a:lnTo>
                  <a:pt x="0" y="57151"/>
                </a:lnTo>
                <a:quadBezTo>
                  <a:pt x="0" y="0"/>
                  <a:pt x="57151" y="0"/>
                </a:quadBezTo>
                <a:close/>
              </a:path>
            </a:pathLst>
          </a:custGeom>
          <a:solidFill>
            <a:srgbClr val="E8F1E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2" y="2065139"/>
            <a:ext cx="161925" cy="1619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7225" y="2480426"/>
            <a:ext cx="2209800" cy="195263"/>
          </a:xfrm>
          <a:custGeom>
            <a:avLst/>
            <a:gdLst/>
            <a:ahLst/>
            <a:cxnLst/>
            <a:rect l="l" t="t" r="r" b="b"/>
            <a:pathLst>
              <a:path w="2209800" h="195263">
                <a:moveTo>
                  <a:pt x="0" y="0"/>
                </a:moveTo>
                <a:lnTo>
                  <a:pt x="2209800" y="0"/>
                </a:lnTo>
                <a:lnTo>
                  <a:pt x="22098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657225" y="2480426"/>
            <a:ext cx="22098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Data Flow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57225" y="2763214"/>
            <a:ext cx="2209800" cy="728663"/>
          </a:xfrm>
          <a:custGeom>
            <a:avLst/>
            <a:gdLst/>
            <a:ahLst/>
            <a:cxnLst/>
            <a:rect l="l" t="t" r="r" b="b"/>
            <a:pathLst>
              <a:path w="2209800" h="728663">
                <a:moveTo>
                  <a:pt x="0" y="0"/>
                </a:moveTo>
                <a:lnTo>
                  <a:pt x="2209800" y="0"/>
                </a:lnTo>
                <a:lnTo>
                  <a:pt x="2209800" y="728663"/>
                </a:lnTo>
                <a:lnTo>
                  <a:pt x="0" y="728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657225" y="2763214"/>
            <a:ext cx="220980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sz="1100"/>
              <a:t>Real-time AQI/weather feeds</a:t>
            </a:r>
            <a:br/>
            <a:r>
              <a:rPr sz="1100"/>
              <a:t>Automated refresh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57225" y="3875952"/>
            <a:ext cx="2209800" cy="285750"/>
          </a:xfrm>
          <a:custGeom>
            <a:avLst/>
            <a:gdLst/>
            <a:ahLst/>
            <a:cxnLst/>
            <a:rect l="l" t="t" r="r" b="b"/>
            <a:pathLst>
              <a:path w="2209800" h="285750">
                <a:moveTo>
                  <a:pt x="0" y="0"/>
                </a:moveTo>
                <a:lnTo>
                  <a:pt x="2209800" y="0"/>
                </a:lnTo>
                <a:lnTo>
                  <a:pt x="22098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017651"/>
            <a:ext cx="119062" cy="11906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42693" y="4009075"/>
            <a:ext cx="1928813" cy="152400"/>
          </a:xfrm>
          <a:custGeom>
            <a:avLst/>
            <a:gdLst/>
            <a:ahLst/>
            <a:cxnLst/>
            <a:rect l="l" t="t" r="r" b="b"/>
            <a:pathLst>
              <a:path w="1928813" h="152400">
                <a:moveTo>
                  <a:pt x="0" y="0"/>
                </a:moveTo>
                <a:lnTo>
                  <a:pt x="1928813" y="0"/>
                </a:lnTo>
                <a:lnTo>
                  <a:pt x="1928813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3267075" y="1775520"/>
            <a:ext cx="2609850" cy="2566988"/>
          </a:xfrm>
          <a:custGeom>
            <a:avLst/>
            <a:gdLst/>
            <a:ahLst/>
            <a:cxnLst/>
            <a:rect l="l" t="t" r="r" b="b"/>
            <a:pathLst>
              <a:path w="2609850" h="2566988">
                <a:moveTo>
                  <a:pt x="40712" y="0"/>
                </a:moveTo>
                <a:lnTo>
                  <a:pt x="2569138" y="0"/>
                </a:lnTo>
                <a:quadBezTo>
                  <a:pt x="2609850" y="0"/>
                  <a:pt x="2609850" y="40712"/>
                </a:quadBezTo>
                <a:lnTo>
                  <a:pt x="2609850" y="2526275"/>
                </a:lnTo>
                <a:quadBezTo>
                  <a:pt x="2609850" y="2566988"/>
                  <a:pt x="2569138" y="2566988"/>
                </a:quadBezTo>
                <a:lnTo>
                  <a:pt x="40712" y="2566988"/>
                </a:lnTo>
                <a:quadBezTo>
                  <a:pt x="0" y="2566988"/>
                  <a:pt x="0" y="2526275"/>
                </a:quadBezTo>
                <a:lnTo>
                  <a:pt x="0" y="40712"/>
                </a:lnTo>
                <a:quadBezTo>
                  <a:pt x="0" y="0"/>
                  <a:pt x="40712" y="0"/>
                </a:quadBezTo>
                <a:close/>
              </a:path>
            </a:pathLst>
          </a:custGeom>
          <a:solidFill>
            <a:schemeClr val="bg1"/>
          </a:solidFill>
          <a:ln/>
          <a:effectLst>
            <a:outerShdw blurRad="142875" dist="66675" dir="2700000" algn="bl" rotWithShape="0">
              <a:srgbClr val="1B5E20">
                <a:alpha val="18039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3467100" y="197465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57151" y="0"/>
                </a:moveTo>
                <a:lnTo>
                  <a:pt x="285749" y="0"/>
                </a:lnTo>
                <a:quadBezTo>
                  <a:pt x="342900" y="0"/>
                  <a:pt x="342900" y="57151"/>
                </a:quadBezTo>
                <a:lnTo>
                  <a:pt x="342900" y="285749"/>
                </a:lnTo>
                <a:quadBezTo>
                  <a:pt x="342900" y="342900"/>
                  <a:pt x="285749" y="342900"/>
                </a:quadBezTo>
                <a:lnTo>
                  <a:pt x="57151" y="342900"/>
                </a:lnTo>
                <a:quadBezTo>
                  <a:pt x="0" y="342900"/>
                  <a:pt x="0" y="285749"/>
                </a:quadBezTo>
                <a:lnTo>
                  <a:pt x="0" y="57151"/>
                </a:lnTo>
                <a:quadBezTo>
                  <a:pt x="0" y="0"/>
                  <a:pt x="57151" y="0"/>
                </a:quadBezTo>
                <a:close/>
              </a:path>
            </a:pathLst>
          </a:custGeom>
          <a:solidFill>
            <a:srgbClr val="43A04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588" y="2065139"/>
            <a:ext cx="161925" cy="16192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3467100" y="2480426"/>
            <a:ext cx="2209800" cy="195263"/>
          </a:xfrm>
          <a:custGeom>
            <a:avLst/>
            <a:gdLst/>
            <a:ahLst/>
            <a:cxnLst/>
            <a:rect l="l" t="t" r="r" b="b"/>
            <a:pathLst>
              <a:path w="2209800" h="195263">
                <a:moveTo>
                  <a:pt x="0" y="0"/>
                </a:moveTo>
                <a:lnTo>
                  <a:pt x="2209800" y="0"/>
                </a:lnTo>
                <a:lnTo>
                  <a:pt x="22098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0"/>
          <p:cNvSpPr/>
          <p:nvPr/>
        </p:nvSpPr>
        <p:spPr>
          <a:xfrm>
            <a:off x="3467100" y="2480426"/>
            <a:ext cx="22098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AQI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467100" y="2763214"/>
            <a:ext cx="2209800" cy="728663"/>
          </a:xfrm>
          <a:custGeom>
            <a:avLst/>
            <a:gdLst/>
            <a:ahLst/>
            <a:cxnLst/>
            <a:rect l="l" t="t" r="r" b="b"/>
            <a:pathLst>
              <a:path w="2209800" h="728663">
                <a:moveTo>
                  <a:pt x="0" y="0"/>
                </a:moveTo>
                <a:lnTo>
                  <a:pt x="2209800" y="0"/>
                </a:lnTo>
                <a:lnTo>
                  <a:pt x="2209800" y="728663"/>
                </a:lnTo>
                <a:lnTo>
                  <a:pt x="0" y="728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3467100" y="2763214"/>
            <a:ext cx="2209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sz="1100" b="0"/>
              <a:t>AQI forecasting with machine learning</a:t>
            </a:r>
            <a:br/>
            <a:r>
              <a:rPr sz="1100" b="0"/>
              <a:t>Early warning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467100" y="3875952"/>
            <a:ext cx="2209800" cy="285750"/>
          </a:xfrm>
          <a:custGeom>
            <a:avLst/>
            <a:gdLst/>
            <a:ahLst/>
            <a:cxnLst/>
            <a:rect l="l" t="t" r="r" b="b"/>
            <a:pathLst>
              <a:path w="2209800" h="285750">
                <a:moveTo>
                  <a:pt x="0" y="0"/>
                </a:moveTo>
                <a:lnTo>
                  <a:pt x="2209800" y="0"/>
                </a:lnTo>
                <a:lnTo>
                  <a:pt x="22098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100" y="4017651"/>
            <a:ext cx="119062" cy="11906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3652724" y="4009075"/>
            <a:ext cx="1790700" cy="152400"/>
          </a:xfrm>
          <a:custGeom>
            <a:avLst/>
            <a:gdLst/>
            <a:ahLst/>
            <a:cxnLst/>
            <a:rect l="l" t="t" r="r" b="b"/>
            <a:pathLst>
              <a:path w="1790700" h="152400">
                <a:moveTo>
                  <a:pt x="0" y="0"/>
                </a:moveTo>
                <a:lnTo>
                  <a:pt x="1790700" y="0"/>
                </a:lnTo>
                <a:lnTo>
                  <a:pt x="17907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26"/>
          <p:cNvSpPr/>
          <p:nvPr/>
        </p:nvSpPr>
        <p:spPr>
          <a:xfrm>
            <a:off x="6076950" y="1775520"/>
            <a:ext cx="2609850" cy="2566988"/>
          </a:xfrm>
          <a:custGeom>
            <a:avLst/>
            <a:gdLst/>
            <a:ahLst/>
            <a:cxnLst/>
            <a:rect l="l" t="t" r="r" b="b"/>
            <a:pathLst>
              <a:path w="2609850" h="2566988">
                <a:moveTo>
                  <a:pt x="40712" y="0"/>
                </a:moveTo>
                <a:lnTo>
                  <a:pt x="2569138" y="0"/>
                </a:lnTo>
                <a:quadBezTo>
                  <a:pt x="2609850" y="0"/>
                  <a:pt x="2609850" y="40712"/>
                </a:quadBezTo>
                <a:lnTo>
                  <a:pt x="2609850" y="2526275"/>
                </a:lnTo>
                <a:quadBezTo>
                  <a:pt x="2609850" y="2566988"/>
                  <a:pt x="2569138" y="2566988"/>
                </a:quadBezTo>
                <a:lnTo>
                  <a:pt x="40712" y="2566988"/>
                </a:lnTo>
                <a:quadBezTo>
                  <a:pt x="0" y="2566988"/>
                  <a:pt x="0" y="2526275"/>
                </a:quadBezTo>
                <a:lnTo>
                  <a:pt x="0" y="40712"/>
                </a:lnTo>
                <a:quadBezTo>
                  <a:pt x="0" y="0"/>
                  <a:pt x="40712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14300" dist="47625" dir="2700000" algn="bl" rotWithShape="0">
              <a:srgbClr val="1F2933">
                <a:alpha val="5882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27"/>
          <p:cNvSpPr/>
          <p:nvPr/>
        </p:nvSpPr>
        <p:spPr>
          <a:xfrm>
            <a:off x="6276975" y="197465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57151" y="0"/>
                </a:moveTo>
                <a:lnTo>
                  <a:pt x="285749" y="0"/>
                </a:lnTo>
                <a:quadBezTo>
                  <a:pt x="342900" y="0"/>
                  <a:pt x="342900" y="57151"/>
                </a:quadBezTo>
                <a:lnTo>
                  <a:pt x="342900" y="285749"/>
                </a:lnTo>
                <a:quadBezTo>
                  <a:pt x="342900" y="342900"/>
                  <a:pt x="285749" y="342900"/>
                </a:quadBezTo>
                <a:lnTo>
                  <a:pt x="57151" y="342900"/>
                </a:lnTo>
                <a:quadBezTo>
                  <a:pt x="0" y="342900"/>
                  <a:pt x="0" y="285749"/>
                </a:quadBezTo>
                <a:lnTo>
                  <a:pt x="0" y="57151"/>
                </a:lnTo>
                <a:quadBezTo>
                  <a:pt x="0" y="0"/>
                  <a:pt x="57151" y="0"/>
                </a:quadBezTo>
                <a:close/>
              </a:path>
            </a:pathLst>
          </a:custGeom>
          <a:solidFill>
            <a:srgbClr val="E8F1E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7462" y="2065139"/>
            <a:ext cx="161925" cy="161925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276975" y="2480426"/>
            <a:ext cx="2209800" cy="195263"/>
          </a:xfrm>
          <a:custGeom>
            <a:avLst/>
            <a:gdLst/>
            <a:ahLst/>
            <a:cxnLst/>
            <a:rect l="l" t="t" r="r" b="b"/>
            <a:pathLst>
              <a:path w="2209800" h="195263">
                <a:moveTo>
                  <a:pt x="0" y="0"/>
                </a:moveTo>
                <a:lnTo>
                  <a:pt x="2209800" y="0"/>
                </a:lnTo>
                <a:lnTo>
                  <a:pt x="22098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29"/>
          <p:cNvSpPr/>
          <p:nvPr/>
        </p:nvSpPr>
        <p:spPr>
          <a:xfrm>
            <a:off x="6276975" y="2480426"/>
            <a:ext cx="22098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Broader Reach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6276975" y="2763214"/>
            <a:ext cx="2209800" cy="728663"/>
          </a:xfrm>
          <a:custGeom>
            <a:avLst/>
            <a:gdLst/>
            <a:ahLst/>
            <a:cxnLst/>
            <a:rect l="l" t="t" r="r" b="b"/>
            <a:pathLst>
              <a:path w="2209800" h="728663">
                <a:moveTo>
                  <a:pt x="0" y="0"/>
                </a:moveTo>
                <a:lnTo>
                  <a:pt x="2209800" y="0"/>
                </a:lnTo>
                <a:lnTo>
                  <a:pt x="2209800" y="728663"/>
                </a:lnTo>
                <a:lnTo>
                  <a:pt x="0" y="728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1"/>
          <p:cNvSpPr/>
          <p:nvPr/>
        </p:nvSpPr>
        <p:spPr>
          <a:xfrm>
            <a:off x="6276975" y="2763214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sz="1000" b="0"/>
              <a:t>SO₂ &amp; O₃</a:t>
            </a:r>
            <a:br/>
            <a:r>
              <a:rPr sz="1000" b="0"/>
              <a:t>Maps • alerts • anomaly detection</a:t>
            </a:r>
            <a:br/>
            <a:r>
              <a:rPr sz="1000" b="0"/>
              <a:t>Mobile/web access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6276975" y="3720221"/>
            <a:ext cx="2209800" cy="442913"/>
          </a:xfrm>
          <a:custGeom>
            <a:avLst/>
            <a:gdLst/>
            <a:ahLst/>
            <a:cxnLst/>
            <a:rect l="l" t="t" r="r" b="b"/>
            <a:pathLst>
              <a:path w="2209800" h="442913">
                <a:moveTo>
                  <a:pt x="0" y="0"/>
                </a:moveTo>
                <a:lnTo>
                  <a:pt x="2209800" y="0"/>
                </a:lnTo>
                <a:lnTo>
                  <a:pt x="2209800" y="442913"/>
                </a:lnTo>
                <a:lnTo>
                  <a:pt x="0" y="4429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75" y="3863351"/>
            <a:ext cx="119062" cy="119062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6462713" y="3853344"/>
            <a:ext cx="2024062" cy="309562"/>
          </a:xfrm>
          <a:custGeom>
            <a:avLst/>
            <a:gdLst/>
            <a:ahLst/>
            <a:cxnLst/>
            <a:rect l="l" t="t" r="r" b="b"/>
            <a:pathLst>
              <a:path w="2024062" h="309562">
                <a:moveTo>
                  <a:pt x="0" y="0"/>
                </a:moveTo>
                <a:lnTo>
                  <a:pt x="2024062" y="0"/>
                </a:lnTo>
                <a:lnTo>
                  <a:pt x="2024062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Shape 35"/>
          <p:cNvSpPr/>
          <p:nvPr/>
        </p:nvSpPr>
        <p:spPr>
          <a:xfrm>
            <a:off x="457200" y="4524375"/>
            <a:ext cx="8229600" cy="276225"/>
          </a:xfrm>
          <a:custGeom>
            <a:avLst/>
            <a:gdLst/>
            <a:ahLst/>
            <a:cxnLst/>
            <a:rect l="l" t="t" r="r" b="b"/>
            <a:pathLst>
              <a:path w="8229600" h="276225">
                <a:moveTo>
                  <a:pt x="0" y="0"/>
                </a:moveTo>
                <a:lnTo>
                  <a:pt x="8229600" y="0"/>
                </a:lnTo>
                <a:lnTo>
                  <a:pt x="8229600" y="276225"/>
                </a:lnTo>
                <a:lnTo>
                  <a:pt x="0" y="276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3875952"/>
            <a:ext cx="2209800" cy="285750"/>
          </a:xfrm>
          <a:prstGeom prst="rect">
            <a:avLst/>
          </a:prstGeom>
        </p:spPr>
      </p:pic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7100" y="3875952"/>
            <a:ext cx="2209800" cy="285750"/>
          </a:xfrm>
          <a:prstGeom prst="rect">
            <a:avLst/>
          </a:prstGeom>
        </p:spPr>
      </p:pic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6975" y="3720221"/>
            <a:ext cx="2209800" cy="4429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" y="-42697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F3716">
              <a:alpha val="72157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4229072" y="1543279"/>
            <a:ext cx="342900" cy="23812"/>
          </a:xfrm>
          <a:custGeom>
            <a:avLst/>
            <a:gdLst/>
            <a:ahLst/>
            <a:cxnLst/>
            <a:rect l="l" t="t" r="r" b="b"/>
            <a:pathLst>
              <a:path w="342900" h="23812">
                <a:moveTo>
                  <a:pt x="21167" y="0"/>
                </a:moveTo>
                <a:lnTo>
                  <a:pt x="588433" y="0"/>
                </a:lnTo>
                <a:quadBezTo>
                  <a:pt x="609600" y="0"/>
                  <a:pt x="609600" y="21167"/>
                </a:quadBezTo>
                <a:lnTo>
                  <a:pt x="609600" y="21167"/>
                </a:lnTo>
                <a:quadBezTo>
                  <a:pt x="609600" y="42333"/>
                  <a:pt x="588433" y="42333"/>
                </a:quadBezTo>
                <a:lnTo>
                  <a:pt x="21167" y="42333"/>
                </a:lnTo>
                <a:quadBezTo>
                  <a:pt x="0" y="42333"/>
                  <a:pt x="0" y="21167"/>
                </a:quadBezTo>
                <a:lnTo>
                  <a:pt x="0" y="21167"/>
                </a:lnTo>
                <a:quadBezTo>
                  <a:pt x="0" y="0"/>
                  <a:pt x="21167" y="0"/>
                </a:quadBezTo>
                <a:close/>
              </a:path>
            </a:pathLst>
          </a:custGeom>
          <a:solidFill>
            <a:srgbClr val="66B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3524233" y="1962164"/>
            <a:ext cx="2095500" cy="371475"/>
          </a:xfrm>
          <a:custGeom>
            <a:avLst/>
            <a:gdLst/>
            <a:ahLst/>
            <a:cxnLst/>
            <a:rect l="l" t="t" r="r" b="b"/>
            <a:pathLst>
              <a:path w="2095500" h="371475">
                <a:moveTo>
                  <a:pt x="0" y="0"/>
                </a:moveTo>
                <a:lnTo>
                  <a:pt x="2095500" y="0"/>
                </a:lnTo>
                <a:lnTo>
                  <a:pt x="2095500" y="371475"/>
                </a:lnTo>
                <a:lnTo>
                  <a:pt x="0" y="3714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3474229" y="1776780"/>
            <a:ext cx="2095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574242" y="2446395"/>
            <a:ext cx="1995487" cy="233362"/>
          </a:xfrm>
          <a:custGeom>
            <a:avLst/>
            <a:gdLst/>
            <a:ahLst/>
            <a:cxnLst/>
            <a:rect l="l" t="t" r="r" b="b"/>
            <a:pathLst>
              <a:path w="1995487" h="233362">
                <a:moveTo>
                  <a:pt x="0" y="0"/>
                </a:moveTo>
                <a:lnTo>
                  <a:pt x="1995487" y="0"/>
                </a:lnTo>
                <a:lnTo>
                  <a:pt x="1995487" y="233362"/>
                </a:lnTo>
                <a:lnTo>
                  <a:pt x="0" y="2333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3574242" y="2446395"/>
            <a:ext cx="1995487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129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 &amp; Discussion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283" y="2932140"/>
            <a:ext cx="114300" cy="1143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774249" y="2927393"/>
            <a:ext cx="1776413" cy="123825"/>
          </a:xfrm>
          <a:custGeom>
            <a:avLst/>
            <a:gdLst/>
            <a:ahLst/>
            <a:cxnLst/>
            <a:rect l="l" t="t" r="r" b="b"/>
            <a:pathLst>
              <a:path w="1776413" h="123825">
                <a:moveTo>
                  <a:pt x="0" y="0"/>
                </a:moveTo>
                <a:lnTo>
                  <a:pt x="1776413" y="0"/>
                </a:lnTo>
                <a:lnTo>
                  <a:pt x="1776413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3774249" y="2927393"/>
            <a:ext cx="17764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7826"/>
              </a:lnSpc>
              <a:spcBef>
                <a:spcPts val="281"/>
              </a:spcBef>
              <a:buNone/>
            </a:pPr>
            <a:r>
              <a:rPr>
                <a:solidFill>
                  <a:srgbClr val="FFFFFF"/>
                </a:solidFill>
              </a:rPr>
              <a:t>AIR QUALITY • DATA • ACTION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669</Words>
  <Application>Microsoft Office PowerPoint</Application>
  <PresentationFormat>On-screen Show (16:9)</PresentationFormat>
  <Paragraphs>150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gishal s</cp:lastModifiedBy>
  <cp:revision>6</cp:revision>
  <dcterms:created xsi:type="dcterms:W3CDTF">2026-09-15T13:28:30Z</dcterms:created>
  <dcterms:modified xsi:type="dcterms:W3CDTF">2026-09-15T14:52:20Z</dcterms:modified>
</cp:coreProperties>
</file>